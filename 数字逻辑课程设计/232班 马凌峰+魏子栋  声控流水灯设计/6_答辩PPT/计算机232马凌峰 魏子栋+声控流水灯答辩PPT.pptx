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tags/tag50.xml" ContentType="application/vnd.openxmlformats-officedocument.presentationml.tags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3.xml" ContentType="application/vnd.openxmlformats-officedocument.themeOverride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5.xml" ContentType="application/vnd.openxmlformats-officedocument.themeOverride+xml"/>
  <Override PartName="/ppt/tags/tag5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7.xml" ContentType="application/vnd.openxmlformats-officedocument.themeOverride+xml"/>
  <Override PartName="/ppt/tags/tag53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5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6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56" r:id="rId3"/>
    <p:sldId id="260" r:id="rId4"/>
    <p:sldId id="294" r:id="rId5"/>
    <p:sldId id="299" r:id="rId6"/>
    <p:sldId id="296" r:id="rId7"/>
    <p:sldId id="295" r:id="rId8"/>
    <p:sldId id="437" r:id="rId9"/>
    <p:sldId id="438" r:id="rId10"/>
    <p:sldId id="439" r:id="rId11"/>
    <p:sldId id="441" r:id="rId12"/>
    <p:sldId id="298" r:id="rId13"/>
    <p:sldId id="443" r:id="rId14"/>
    <p:sldId id="444" r:id="rId15"/>
    <p:sldId id="297" r:id="rId16"/>
    <p:sldId id="435" r:id="rId17"/>
    <p:sldId id="445" r:id="rId18"/>
    <p:sldId id="446" r:id="rId19"/>
    <p:sldId id="318" r:id="rId20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170BD"/>
    <a:srgbClr val="595959"/>
    <a:srgbClr val="1C4987"/>
    <a:srgbClr val="F2F2F2"/>
    <a:srgbClr val="014099"/>
    <a:srgbClr val="016FBD"/>
    <a:srgbClr val="FF7C80"/>
    <a:srgbClr val="153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8" autoAdjust="0"/>
    <p:restoredTop sz="84997" autoAdjust="0"/>
  </p:normalViewPr>
  <p:slideViewPr>
    <p:cSldViewPr snapToGrid="0" showGuides="1">
      <p:cViewPr varScale="1">
        <p:scale>
          <a:sx n="72" d="100"/>
          <a:sy n="72" d="100"/>
        </p:scale>
        <p:origin x="33" y="228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222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9316AC-052E-40B7-9486-8B03B86AE9EB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7F682-55B2-4329-AC2C-A10F5E2B5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3FBB6-CB90-492C-AA87-DA57C090CB1B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9A390-5084-4A90-8F0B-742CA5BE78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37595" y="312516"/>
            <a:ext cx="11516810" cy="6128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srgbClr val="1C4987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 rot="2771160">
            <a:off x="-113075" y="-375493"/>
            <a:ext cx="727227" cy="1267067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2965454">
            <a:off x="11449418" y="5786985"/>
            <a:ext cx="780194" cy="1473922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37595" y="312516"/>
            <a:ext cx="11516810" cy="6128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srgbClr val="1C4987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 rot="2771160">
            <a:off x="-113075" y="-375493"/>
            <a:ext cx="727227" cy="1267067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2965454">
            <a:off x="11449418" y="5786985"/>
            <a:ext cx="780194" cy="1473922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C5F5E-E526-41E5-973B-2FB6A3FDEC8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notesSlide" Target="../notesSlides/notesSlide2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slideLayout" Target="../slideLayouts/slideLayout1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1" Type="http://schemas.openxmlformats.org/officeDocument/2006/relationships/tags" Target="../tags/tag2.xml"/><Relationship Id="rId6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0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1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9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2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3.xml"/><Relationship Id="rId1" Type="http://schemas.openxmlformats.org/officeDocument/2006/relationships/themeOverride" Target="../theme/themeOverride7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3" Type="http://schemas.openxmlformats.org/officeDocument/2006/relationships/tags" Target="../tags/tag56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tags" Target="../tags/tag72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tags" Target="../tags/tag71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tags" Target="../tags/tag70.xml"/><Relationship Id="rId5" Type="http://schemas.openxmlformats.org/officeDocument/2006/relationships/tags" Target="../tags/tag64.xml"/><Relationship Id="rId15" Type="http://schemas.openxmlformats.org/officeDocument/2006/relationships/notesSlide" Target="../notesSlides/notesSlide16.xml"/><Relationship Id="rId10" Type="http://schemas.openxmlformats.org/officeDocument/2006/relationships/tags" Target="../tags/tag69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2" Type="http://schemas.openxmlformats.org/officeDocument/2006/relationships/tags" Target="../tags/tag74.xml"/><Relationship Id="rId16" Type="http://schemas.openxmlformats.org/officeDocument/2006/relationships/notesSlide" Target="../notesSlides/notesSlide17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slideLayout" Target="../slideLayouts/slideLayout12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59427" y="2768907"/>
            <a:ext cx="102731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数字逻辑课程设计答辩</a:t>
            </a:r>
            <a:r>
              <a:rPr lang="en-US" altLang="zh-CN" sz="5400" b="1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PPT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568" y="1208339"/>
            <a:ext cx="3627082" cy="110539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380" y="1001438"/>
            <a:ext cx="1391319" cy="1395926"/>
          </a:xfrm>
          <a:prstGeom prst="rect">
            <a:avLst/>
          </a:prstGeom>
        </p:spPr>
      </p:pic>
      <p:sp>
        <p:nvSpPr>
          <p:cNvPr id="2" name="文本框 1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3587823" y="3697840"/>
            <a:ext cx="50070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zh-CN" altLang="en-US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声控流水灯设计</a:t>
            </a:r>
          </a:p>
        </p:txBody>
      </p:sp>
      <p:grpSp>
        <p:nvGrpSpPr>
          <p:cNvPr id="3" name="组合 2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>
            <a:off x="8484681" y="3851790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4" name="椭圆 3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 flipH="1">
            <a:off x="3388831" y="3851790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7" name="椭圆 6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684746" y="4529965"/>
            <a:ext cx="281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答辩学生：马凌峰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魏子栋</a:t>
            </a:r>
          </a:p>
        </p:txBody>
      </p:sp>
      <p:sp>
        <p:nvSpPr>
          <p:cNvPr id="23" name="文本框 22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895215" y="4994910"/>
            <a:ext cx="239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指导老师：蔡陈赟</a:t>
            </a:r>
          </a:p>
        </p:txBody>
      </p:sp>
      <p:sp>
        <p:nvSpPr>
          <p:cNvPr id="24" name="文本框 23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812896" y="5459981"/>
            <a:ext cx="2583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时间： 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2025 . 06 . 25</a:t>
            </a:r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9" grpId="0"/>
      <p:bldP spid="23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536139" y="2473797"/>
            <a:ext cx="991749" cy="991749"/>
            <a:chOff x="2414587" y="2452686"/>
            <a:chExt cx="743812" cy="743812"/>
          </a:xfrm>
        </p:grpSpPr>
        <p:grpSp>
          <p:nvGrpSpPr>
            <p:cNvPr id="22" name="组合 21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31" name="矩形 30"/>
                  <p:cNvSpPr/>
                  <p:nvPr>
                    <p:custDataLst>
                      <p:tags r:id="rId45"/>
                    </p:custDataLst>
                  </p:nvPr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32" name="矩形 31"/>
                  <p:cNvSpPr/>
                  <p:nvPr>
                    <p:custDataLst>
                      <p:tags r:id="rId46"/>
                    </p:custDataLst>
                  </p:nvPr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33" name="矩形 32"/>
                  <p:cNvSpPr/>
                  <p:nvPr>
                    <p:custDataLst>
                      <p:tags r:id="rId47"/>
                    </p:custDataLst>
                  </p:nvPr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34" name="矩形 33"/>
                  <p:cNvSpPr/>
                  <p:nvPr>
                    <p:custDataLst>
                      <p:tags r:id="rId48"/>
                    </p:custDataLst>
                  </p:nvPr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</p:grpSp>
            <p:sp>
              <p:nvSpPr>
                <p:cNvPr id="30" name="矩形 29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25" name="矩形 24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26" name="矩形 25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28" name="矩形 27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</p:grpSp>
        <p:sp>
          <p:nvSpPr>
            <p:cNvPr id="2" name="文本框 1"/>
            <p:cNvSpPr txBox="1"/>
            <p:nvPr>
              <p:custDataLst>
                <p:tags r:id="rId39"/>
              </p:custDataLst>
            </p:nvPr>
          </p:nvSpPr>
          <p:spPr>
            <a:xfrm>
              <a:off x="2630682" y="2504302"/>
              <a:ext cx="311624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1</a:t>
              </a:r>
              <a:endParaRPr lang="zh-CN" altLang="en-US" sz="48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sp>
        <p:nvSpPr>
          <p:cNvPr id="35" name="矩形 34"/>
          <p:cNvSpPr/>
          <p:nvPr>
            <p:custDataLst>
              <p:tags r:id="rId2"/>
            </p:custDataLst>
          </p:nvPr>
        </p:nvSpPr>
        <p:spPr>
          <a:xfrm>
            <a:off x="2527888" y="2752625"/>
            <a:ext cx="29453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设计方案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3979657" y="542045"/>
            <a:ext cx="4232686" cy="1312166"/>
            <a:chOff x="3543014" y="542045"/>
            <a:chExt cx="4232686" cy="1312166"/>
          </a:xfrm>
        </p:grpSpPr>
        <p:sp>
          <p:nvSpPr>
            <p:cNvPr id="21" name="文本框 20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SpPr txBox="1"/>
            <p:nvPr/>
          </p:nvSpPr>
          <p:spPr>
            <a:xfrm>
              <a:off x="5950582" y="686944"/>
              <a:ext cx="18251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spc="300" dirty="0">
                  <a:solidFill>
                    <a:srgbClr val="0170B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目录</a:t>
              </a:r>
            </a:p>
          </p:txBody>
        </p:sp>
        <p:grpSp>
          <p:nvGrpSpPr>
            <p:cNvPr id="37" name="组合 36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GrpSpPr/>
            <p:nvPr/>
          </p:nvGrpSpPr>
          <p:grpSpPr>
            <a:xfrm>
              <a:off x="3543014" y="542045"/>
              <a:ext cx="2354215" cy="1312166"/>
              <a:chOff x="0" y="3010281"/>
              <a:chExt cx="6441740" cy="3704871"/>
            </a:xfrm>
          </p:grpSpPr>
          <p:sp>
            <p:nvSpPr>
              <p:cNvPr id="39" name="Freeform 5"/>
              <p:cNvSpPr/>
              <p:nvPr/>
            </p:nvSpPr>
            <p:spPr bwMode="auto">
              <a:xfrm>
                <a:off x="1136453" y="4233751"/>
                <a:ext cx="4196555" cy="2481401"/>
              </a:xfrm>
              <a:custGeom>
                <a:avLst/>
                <a:gdLst>
                  <a:gd name="T0" fmla="*/ 757 w 757"/>
                  <a:gd name="T1" fmla="*/ 322 h 432"/>
                  <a:gd name="T2" fmla="*/ 380 w 757"/>
                  <a:gd name="T3" fmla="*/ 432 h 432"/>
                  <a:gd name="T4" fmla="*/ 0 w 757"/>
                  <a:gd name="T5" fmla="*/ 322 h 432"/>
                  <a:gd name="T6" fmla="*/ 77 w 757"/>
                  <a:gd name="T7" fmla="*/ 0 h 432"/>
                  <a:gd name="T8" fmla="*/ 678 w 757"/>
                  <a:gd name="T9" fmla="*/ 0 h 432"/>
                  <a:gd name="T10" fmla="*/ 757 w 757"/>
                  <a:gd name="T11" fmla="*/ 32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7" h="432">
                    <a:moveTo>
                      <a:pt x="757" y="322"/>
                    </a:moveTo>
                    <a:lnTo>
                      <a:pt x="380" y="432"/>
                    </a:lnTo>
                    <a:lnTo>
                      <a:pt x="0" y="322"/>
                    </a:lnTo>
                    <a:lnTo>
                      <a:pt x="77" y="0"/>
                    </a:lnTo>
                    <a:lnTo>
                      <a:pt x="678" y="0"/>
                    </a:lnTo>
                    <a:lnTo>
                      <a:pt x="757" y="322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40" name="Freeform 7"/>
              <p:cNvSpPr/>
              <p:nvPr/>
            </p:nvSpPr>
            <p:spPr bwMode="auto">
              <a:xfrm>
                <a:off x="0" y="3010281"/>
                <a:ext cx="6441736" cy="2067834"/>
              </a:xfrm>
              <a:custGeom>
                <a:avLst/>
                <a:gdLst>
                  <a:gd name="T0" fmla="*/ 1162 w 1162"/>
                  <a:gd name="T1" fmla="*/ 128 h 360"/>
                  <a:gd name="T2" fmla="*/ 581 w 1162"/>
                  <a:gd name="T3" fmla="*/ 0 h 360"/>
                  <a:gd name="T4" fmla="*/ 0 w 1162"/>
                  <a:gd name="T5" fmla="*/ 128 h 360"/>
                  <a:gd name="T6" fmla="*/ 0 w 1162"/>
                  <a:gd name="T7" fmla="*/ 185 h 360"/>
                  <a:gd name="T8" fmla="*/ 581 w 1162"/>
                  <a:gd name="T9" fmla="*/ 360 h 360"/>
                  <a:gd name="T10" fmla="*/ 1162 w 1162"/>
                  <a:gd name="T11" fmla="*/ 185 h 360"/>
                  <a:gd name="T12" fmla="*/ 1162 w 1162"/>
                  <a:gd name="T13" fmla="*/ 128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62" h="360">
                    <a:moveTo>
                      <a:pt x="1162" y="128"/>
                    </a:moveTo>
                    <a:lnTo>
                      <a:pt x="581" y="0"/>
                    </a:lnTo>
                    <a:lnTo>
                      <a:pt x="0" y="128"/>
                    </a:lnTo>
                    <a:lnTo>
                      <a:pt x="0" y="185"/>
                    </a:lnTo>
                    <a:lnTo>
                      <a:pt x="581" y="360"/>
                    </a:lnTo>
                    <a:lnTo>
                      <a:pt x="1162" y="185"/>
                    </a:lnTo>
                    <a:lnTo>
                      <a:pt x="1162" y="128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41" name="Freeform 8"/>
              <p:cNvSpPr/>
              <p:nvPr/>
            </p:nvSpPr>
            <p:spPr bwMode="auto">
              <a:xfrm>
                <a:off x="16633" y="3010281"/>
                <a:ext cx="6425107" cy="1757659"/>
              </a:xfrm>
              <a:custGeom>
                <a:avLst/>
                <a:gdLst>
                  <a:gd name="T0" fmla="*/ 578 w 1159"/>
                  <a:gd name="T1" fmla="*/ 306 h 306"/>
                  <a:gd name="T2" fmla="*/ 0 w 1159"/>
                  <a:gd name="T3" fmla="*/ 128 h 306"/>
                  <a:gd name="T4" fmla="*/ 578 w 1159"/>
                  <a:gd name="T5" fmla="*/ 0 h 306"/>
                  <a:gd name="T6" fmla="*/ 1159 w 1159"/>
                  <a:gd name="T7" fmla="*/ 128 h 306"/>
                  <a:gd name="T8" fmla="*/ 578 w 1159"/>
                  <a:gd name="T9" fmla="*/ 30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9" h="306">
                    <a:moveTo>
                      <a:pt x="578" y="306"/>
                    </a:moveTo>
                    <a:lnTo>
                      <a:pt x="0" y="128"/>
                    </a:lnTo>
                    <a:lnTo>
                      <a:pt x="578" y="0"/>
                    </a:lnTo>
                    <a:lnTo>
                      <a:pt x="1159" y="128"/>
                    </a:lnTo>
                    <a:lnTo>
                      <a:pt x="578" y="306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42" name="Freeform 9"/>
              <p:cNvSpPr/>
              <p:nvPr/>
            </p:nvSpPr>
            <p:spPr bwMode="auto">
              <a:xfrm>
                <a:off x="3098910" y="3802950"/>
                <a:ext cx="2821726" cy="172320"/>
              </a:xfrm>
              <a:custGeom>
                <a:avLst/>
                <a:gdLst>
                  <a:gd name="T0" fmla="*/ 335 w 336"/>
                  <a:gd name="T1" fmla="*/ 13 h 20"/>
                  <a:gd name="T2" fmla="*/ 326 w 336"/>
                  <a:gd name="T3" fmla="*/ 19 h 20"/>
                  <a:gd name="T4" fmla="*/ 7 w 336"/>
                  <a:gd name="T5" fmla="*/ 16 h 20"/>
                  <a:gd name="T6" fmla="*/ 0 w 336"/>
                  <a:gd name="T7" fmla="*/ 7 h 20"/>
                  <a:gd name="T8" fmla="*/ 0 w 336"/>
                  <a:gd name="T9" fmla="*/ 7 h 20"/>
                  <a:gd name="T10" fmla="*/ 9 w 336"/>
                  <a:gd name="T11" fmla="*/ 1 h 20"/>
                  <a:gd name="T12" fmla="*/ 329 w 336"/>
                  <a:gd name="T13" fmla="*/ 4 h 20"/>
                  <a:gd name="T14" fmla="*/ 335 w 336"/>
                  <a:gd name="T15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6" h="20">
                    <a:moveTo>
                      <a:pt x="335" y="13"/>
                    </a:moveTo>
                    <a:cubicBezTo>
                      <a:pt x="335" y="17"/>
                      <a:pt x="331" y="20"/>
                      <a:pt x="326" y="19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3" y="15"/>
                      <a:pt x="0" y="11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3"/>
                      <a:pt x="5" y="0"/>
                      <a:pt x="9" y="1"/>
                    </a:cubicBezTo>
                    <a:cubicBezTo>
                      <a:pt x="329" y="4"/>
                      <a:pt x="329" y="4"/>
                      <a:pt x="329" y="4"/>
                    </a:cubicBezTo>
                    <a:cubicBezTo>
                      <a:pt x="333" y="5"/>
                      <a:pt x="336" y="9"/>
                      <a:pt x="335" y="1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43" name="Freeform 10"/>
              <p:cNvSpPr/>
              <p:nvPr/>
            </p:nvSpPr>
            <p:spPr bwMode="auto">
              <a:xfrm>
                <a:off x="5817161" y="3833066"/>
                <a:ext cx="133048" cy="970735"/>
              </a:xfrm>
              <a:custGeom>
                <a:avLst/>
                <a:gdLst>
                  <a:gd name="T0" fmla="*/ 16 w 16"/>
                  <a:gd name="T1" fmla="*/ 104 h 112"/>
                  <a:gd name="T2" fmla="*/ 8 w 16"/>
                  <a:gd name="T3" fmla="*/ 112 h 112"/>
                  <a:gd name="T4" fmla="*/ 8 w 16"/>
                  <a:gd name="T5" fmla="*/ 112 h 112"/>
                  <a:gd name="T6" fmla="*/ 0 w 16"/>
                  <a:gd name="T7" fmla="*/ 104 h 112"/>
                  <a:gd name="T8" fmla="*/ 0 w 16"/>
                  <a:gd name="T9" fmla="*/ 8 h 112"/>
                  <a:gd name="T10" fmla="*/ 8 w 16"/>
                  <a:gd name="T11" fmla="*/ 0 h 112"/>
                  <a:gd name="T12" fmla="*/ 8 w 16"/>
                  <a:gd name="T13" fmla="*/ 0 h 112"/>
                  <a:gd name="T14" fmla="*/ 16 w 16"/>
                  <a:gd name="T15" fmla="*/ 8 h 112"/>
                  <a:gd name="T16" fmla="*/ 16 w 16"/>
                  <a:gd name="T17" fmla="*/ 10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12">
                    <a:moveTo>
                      <a:pt x="16" y="104"/>
                    </a:moveTo>
                    <a:cubicBezTo>
                      <a:pt x="16" y="109"/>
                      <a:pt x="13" y="112"/>
                      <a:pt x="8" y="112"/>
                    </a:cubicBezTo>
                    <a:cubicBezTo>
                      <a:pt x="8" y="112"/>
                      <a:pt x="8" y="112"/>
                      <a:pt x="8" y="112"/>
                    </a:cubicBezTo>
                    <a:cubicBezTo>
                      <a:pt x="3" y="112"/>
                      <a:pt x="0" y="109"/>
                      <a:pt x="0" y="10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lnTo>
                      <a:pt x="16" y="104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44" name="Oval 11"/>
              <p:cNvSpPr>
                <a:spLocks noChangeArrowheads="1"/>
              </p:cNvSpPr>
              <p:nvPr/>
            </p:nvSpPr>
            <p:spPr bwMode="auto">
              <a:xfrm>
                <a:off x="5660082" y="4664548"/>
                <a:ext cx="443493" cy="459518"/>
              </a:xfrm>
              <a:prstGeom prst="ellipse">
                <a:avLst/>
              </a:pr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45" name="Freeform 12"/>
              <p:cNvSpPr/>
              <p:nvPr/>
            </p:nvSpPr>
            <p:spPr bwMode="auto">
              <a:xfrm>
                <a:off x="5593558" y="5279157"/>
                <a:ext cx="576541" cy="1079869"/>
              </a:xfrm>
              <a:custGeom>
                <a:avLst/>
                <a:gdLst>
                  <a:gd name="T0" fmla="*/ 69 w 69"/>
                  <a:gd name="T1" fmla="*/ 114 h 124"/>
                  <a:gd name="T2" fmla="*/ 59 w 69"/>
                  <a:gd name="T3" fmla="*/ 124 h 124"/>
                  <a:gd name="T4" fmla="*/ 10 w 69"/>
                  <a:gd name="T5" fmla="*/ 124 h 124"/>
                  <a:gd name="T6" fmla="*/ 0 w 69"/>
                  <a:gd name="T7" fmla="*/ 114 h 124"/>
                  <a:gd name="T8" fmla="*/ 10 w 69"/>
                  <a:gd name="T9" fmla="*/ 10 h 124"/>
                  <a:gd name="T10" fmla="*/ 20 w 69"/>
                  <a:gd name="T11" fmla="*/ 0 h 124"/>
                  <a:gd name="T12" fmla="*/ 49 w 69"/>
                  <a:gd name="T13" fmla="*/ 0 h 124"/>
                  <a:gd name="T14" fmla="*/ 59 w 69"/>
                  <a:gd name="T15" fmla="*/ 10 h 124"/>
                  <a:gd name="T16" fmla="*/ 69 w 69"/>
                  <a:gd name="T17" fmla="*/ 11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" h="124">
                    <a:moveTo>
                      <a:pt x="69" y="114"/>
                    </a:moveTo>
                    <a:cubicBezTo>
                      <a:pt x="69" y="119"/>
                      <a:pt x="64" y="124"/>
                      <a:pt x="59" y="124"/>
                    </a:cubicBezTo>
                    <a:cubicBezTo>
                      <a:pt x="10" y="124"/>
                      <a:pt x="10" y="124"/>
                      <a:pt x="10" y="124"/>
                    </a:cubicBezTo>
                    <a:cubicBezTo>
                      <a:pt x="4" y="124"/>
                      <a:pt x="0" y="119"/>
                      <a:pt x="0" y="114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5"/>
                      <a:pt x="14" y="0"/>
                      <a:pt x="20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5" y="0"/>
                      <a:pt x="59" y="5"/>
                      <a:pt x="59" y="10"/>
                    </a:cubicBezTo>
                    <a:lnTo>
                      <a:pt x="69" y="114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46" name="Freeform 13"/>
              <p:cNvSpPr/>
              <p:nvPr/>
            </p:nvSpPr>
            <p:spPr bwMode="auto">
              <a:xfrm>
                <a:off x="5665623" y="5003445"/>
                <a:ext cx="404689" cy="310175"/>
              </a:xfrm>
              <a:custGeom>
                <a:avLst/>
                <a:gdLst>
                  <a:gd name="T0" fmla="*/ 48 w 48"/>
                  <a:gd name="T1" fmla="*/ 26 h 36"/>
                  <a:gd name="T2" fmla="*/ 38 w 48"/>
                  <a:gd name="T3" fmla="*/ 36 h 36"/>
                  <a:gd name="T4" fmla="*/ 10 w 48"/>
                  <a:gd name="T5" fmla="*/ 36 h 36"/>
                  <a:gd name="T6" fmla="*/ 0 w 48"/>
                  <a:gd name="T7" fmla="*/ 26 h 36"/>
                  <a:gd name="T8" fmla="*/ 0 w 48"/>
                  <a:gd name="T9" fmla="*/ 10 h 36"/>
                  <a:gd name="T10" fmla="*/ 10 w 48"/>
                  <a:gd name="T11" fmla="*/ 0 h 36"/>
                  <a:gd name="T12" fmla="*/ 38 w 48"/>
                  <a:gd name="T13" fmla="*/ 0 h 36"/>
                  <a:gd name="T14" fmla="*/ 48 w 48"/>
                  <a:gd name="T15" fmla="*/ 10 h 36"/>
                  <a:gd name="T16" fmla="*/ 48 w 48"/>
                  <a:gd name="T17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36">
                    <a:moveTo>
                      <a:pt x="48" y="26"/>
                    </a:moveTo>
                    <a:cubicBezTo>
                      <a:pt x="48" y="32"/>
                      <a:pt x="44" y="36"/>
                      <a:pt x="38" y="36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4" y="36"/>
                      <a:pt x="0" y="32"/>
                      <a:pt x="0" y="2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4" y="0"/>
                      <a:pt x="48" y="4"/>
                      <a:pt x="48" y="10"/>
                    </a:cubicBezTo>
                    <a:lnTo>
                      <a:pt x="48" y="26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47" name="Oval 14"/>
              <p:cNvSpPr>
                <a:spLocks noChangeArrowheads="1"/>
              </p:cNvSpPr>
              <p:nvPr/>
            </p:nvSpPr>
            <p:spPr bwMode="auto">
              <a:xfrm>
                <a:off x="2816181" y="3711047"/>
                <a:ext cx="820462" cy="30443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</p:grpSp>
        <p:sp>
          <p:nvSpPr>
            <p:cNvPr id="38" name="文本框 37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SpPr txBox="1"/>
            <p:nvPr/>
          </p:nvSpPr>
          <p:spPr>
            <a:xfrm>
              <a:off x="6270710" y="1431250"/>
              <a:ext cx="1068097" cy="340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defTabSz="457200">
                <a:lnSpc>
                  <a:spcPct val="150000"/>
                </a:lnSpc>
                <a:defRPr sz="105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</a:defRPr>
              </a:lvl1pPr>
            </a:lstStyle>
            <a:p>
              <a:pPr algn="ctr"/>
              <a:r>
                <a:rPr lang="en-US" altLang="zh-CN" sz="1200" dirty="0"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CONTENTS</a:t>
              </a:r>
              <a:endParaRPr lang="zh-CN" altLang="en-US" sz="1200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3"/>
            </p:custDataLst>
          </p:nvPr>
        </p:nvGrpSpPr>
        <p:grpSpPr>
          <a:xfrm>
            <a:off x="7015786" y="2475831"/>
            <a:ext cx="991749" cy="991749"/>
            <a:chOff x="2414587" y="2452686"/>
            <a:chExt cx="743812" cy="743812"/>
          </a:xfrm>
        </p:grpSpPr>
        <p:grpSp>
          <p:nvGrpSpPr>
            <p:cNvPr id="49" name="组合 48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57" name="组合 56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59" name="矩形 58"/>
                  <p:cNvSpPr/>
                  <p:nvPr>
                    <p:custDataLst>
                      <p:tags r:id="rId35"/>
                    </p:custDataLst>
                  </p:nvPr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60" name="矩形 59"/>
                  <p:cNvSpPr/>
                  <p:nvPr>
                    <p:custDataLst>
                      <p:tags r:id="rId36"/>
                    </p:custDataLst>
                  </p:nvPr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61" name="矩形 60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62" name="矩形 61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</p:grpSp>
            <p:sp>
              <p:nvSpPr>
                <p:cNvPr id="58" name="矩形 57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3" name="矩形 52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54" name="矩形 53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55" name="矩形 54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56" name="矩形 55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</p:grpSp>
        <p:sp>
          <p:nvSpPr>
            <p:cNvPr id="50" name="文本框 49"/>
            <p:cNvSpPr txBox="1"/>
            <p:nvPr>
              <p:custDataLst>
                <p:tags r:id="rId29"/>
              </p:custDataLst>
            </p:nvPr>
          </p:nvSpPr>
          <p:spPr>
            <a:xfrm>
              <a:off x="2591609" y="2504302"/>
              <a:ext cx="389771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2</a:t>
              </a:r>
              <a:endParaRPr lang="zh-CN" altLang="en-US" sz="48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sp>
        <p:nvSpPr>
          <p:cNvPr id="63" name="矩形 62"/>
          <p:cNvSpPr/>
          <p:nvPr>
            <p:custDataLst>
              <p:tags r:id="rId4"/>
            </p:custDataLst>
          </p:nvPr>
        </p:nvSpPr>
        <p:spPr>
          <a:xfrm>
            <a:off x="8007535" y="2754659"/>
            <a:ext cx="299815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单元电路设计</a:t>
            </a:r>
          </a:p>
        </p:txBody>
      </p:sp>
      <p:grpSp>
        <p:nvGrpSpPr>
          <p:cNvPr id="65" name="组合 64"/>
          <p:cNvGrpSpPr/>
          <p:nvPr>
            <p:custDataLst>
              <p:tags r:id="rId5"/>
            </p:custDataLst>
          </p:nvPr>
        </p:nvGrpSpPr>
        <p:grpSpPr>
          <a:xfrm>
            <a:off x="1536139" y="4230063"/>
            <a:ext cx="991749" cy="991749"/>
            <a:chOff x="2414587" y="2452686"/>
            <a:chExt cx="743812" cy="743812"/>
          </a:xfrm>
        </p:grpSpPr>
        <p:grpSp>
          <p:nvGrpSpPr>
            <p:cNvPr id="66" name="组合 65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74" name="组合 7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76" name="矩形 75"/>
                  <p:cNvSpPr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77" name="矩形 76"/>
                  <p:cNvSpPr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78" name="矩形 77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79" name="矩形 78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</p:grpSp>
            <p:sp>
              <p:nvSpPr>
                <p:cNvPr id="75" name="矩形 74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70" name="矩形 69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71" name="矩形 70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72" name="矩形 71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73" name="矩形 72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</p:grpSp>
        <p:sp>
          <p:nvSpPr>
            <p:cNvPr id="67" name="文本框 66"/>
            <p:cNvSpPr txBox="1"/>
            <p:nvPr>
              <p:custDataLst>
                <p:tags r:id="rId19"/>
              </p:custDataLst>
            </p:nvPr>
          </p:nvSpPr>
          <p:spPr>
            <a:xfrm>
              <a:off x="2593412" y="2504302"/>
              <a:ext cx="386164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3</a:t>
              </a:r>
              <a:endParaRPr lang="zh-CN" altLang="en-US" sz="48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sp>
        <p:nvSpPr>
          <p:cNvPr id="80" name="矩形 79"/>
          <p:cNvSpPr/>
          <p:nvPr>
            <p:custDataLst>
              <p:tags r:id="rId6"/>
            </p:custDataLst>
          </p:nvPr>
        </p:nvSpPr>
        <p:spPr>
          <a:xfrm>
            <a:off x="2527888" y="4508891"/>
            <a:ext cx="300456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实物图和元件清单</a:t>
            </a:r>
          </a:p>
        </p:txBody>
      </p:sp>
      <p:grpSp>
        <p:nvGrpSpPr>
          <p:cNvPr id="82" name="组合 81"/>
          <p:cNvGrpSpPr/>
          <p:nvPr>
            <p:custDataLst>
              <p:tags r:id="rId7"/>
            </p:custDataLst>
          </p:nvPr>
        </p:nvGrpSpPr>
        <p:grpSpPr>
          <a:xfrm>
            <a:off x="7015786" y="4232097"/>
            <a:ext cx="991749" cy="991749"/>
            <a:chOff x="2414587" y="2452686"/>
            <a:chExt cx="743812" cy="743812"/>
          </a:xfrm>
        </p:grpSpPr>
        <p:grpSp>
          <p:nvGrpSpPr>
            <p:cNvPr id="83" name="组合 82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85" name="组合 84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91" name="组合 90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93" name="矩形 92"/>
                  <p:cNvSpPr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94" name="矩形 93"/>
                  <p:cNvSpPr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95" name="矩形 94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96" name="矩形 95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</p:grpSp>
            <p:sp>
              <p:nvSpPr>
                <p:cNvPr id="92" name="矩形 91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87" name="矩形 8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88" name="矩形 87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89" name="矩形 88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90" name="矩形 89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</p:grpSp>
        <p:sp>
          <p:nvSpPr>
            <p:cNvPr id="84" name="文本框 83"/>
            <p:cNvSpPr txBox="1"/>
            <p:nvPr>
              <p:custDataLst>
                <p:tags r:id="rId9"/>
              </p:custDataLst>
            </p:nvPr>
          </p:nvSpPr>
          <p:spPr>
            <a:xfrm>
              <a:off x="2591007" y="2504302"/>
              <a:ext cx="390973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4</a:t>
              </a:r>
              <a:endParaRPr lang="zh-CN" altLang="en-US" sz="48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sp>
        <p:nvSpPr>
          <p:cNvPr id="97" name="矩形 96"/>
          <p:cNvSpPr/>
          <p:nvPr>
            <p:custDataLst>
              <p:tags r:id="rId8"/>
            </p:custDataLst>
          </p:nvPr>
        </p:nvSpPr>
        <p:spPr>
          <a:xfrm>
            <a:off x="8007535" y="4510925"/>
            <a:ext cx="264351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调试与测试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2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750"/>
                            </p:stCondLst>
                            <p:childTnLst>
                              <p:par>
                                <p:cTn id="44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63" grpId="0"/>
      <p:bldP spid="80" grpId="0"/>
      <p:bldP spid="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59896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1</a:t>
              </a:r>
              <a:endParaRPr lang="zh-CN" altLang="en-US" sz="12800" dirty="0">
                <a:solidFill>
                  <a:prstClr val="white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设计方案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857756" y="5096814"/>
            <a:ext cx="8437108" cy="4603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设计并制作一个声控流水灯电路，通过麦克风将声音转化为流水灯运动。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/>
          <p:nvPr/>
        </p:nvSpPr>
        <p:spPr>
          <a:xfrm>
            <a:off x="996315" y="3178810"/>
            <a:ext cx="10168890" cy="249428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7" name="Rectangle 70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/>
          <p:nvPr/>
        </p:nvSpPr>
        <p:spPr>
          <a:xfrm>
            <a:off x="1071245" y="3306445"/>
            <a:ext cx="10168890" cy="279654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   </a:t>
            </a:r>
            <a:r>
              <a:rPr lang="zh-CN" altLang="en-US" sz="2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用数电知识实现设计要求，利用驻极体话筒采集环境声波信号，通过三极管放大电路将声音信号转换为电信号并放大后，作为控制信号直接送入十进制计数器</a:t>
            </a:r>
            <a:r>
              <a:rPr lang="en-US" altLang="zh-CN" sz="2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CD4017</a:t>
            </a:r>
            <a:r>
              <a:rPr lang="zh-CN" altLang="en-US" sz="2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的时钟输入端。</a:t>
            </a:r>
            <a:r>
              <a:rPr lang="en-US" altLang="zh-CN" sz="2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CD4017</a:t>
            </a:r>
            <a:r>
              <a:rPr lang="zh-CN" altLang="en-US" sz="2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根据声音信号的频率变化自动调节输出切换速度，从而驱动</a:t>
            </a:r>
            <a:r>
              <a:rPr lang="en-US" altLang="zh-CN" sz="2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LED</a:t>
            </a:r>
            <a:r>
              <a:rPr lang="zh-CN" altLang="en-US" sz="2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阵列形成动态流水效果。</a:t>
            </a:r>
          </a:p>
        </p:txBody>
      </p:sp>
      <p:pic>
        <p:nvPicPr>
          <p:cNvPr id="822114443" name="图片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8045" y="1711960"/>
            <a:ext cx="10435590" cy="7543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组合 3"/>
          <p:cNvGrpSpPr/>
          <p:nvPr/>
        </p:nvGrpSpPr>
        <p:grpSpPr>
          <a:xfrm>
            <a:off x="3953462" y="528062"/>
            <a:ext cx="4122516" cy="525639"/>
            <a:chOff x="3953462" y="528062"/>
            <a:chExt cx="4122516" cy="525639"/>
          </a:xfrm>
        </p:grpSpPr>
        <p:sp>
          <p:nvSpPr>
            <p:cNvPr id="5" name="文本框 4"/>
            <p:cNvSpPr txBox="1"/>
            <p:nvPr/>
          </p:nvSpPr>
          <p:spPr>
            <a:xfrm>
              <a:off x="3953462" y="528062"/>
              <a:ext cx="4122516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一、设计方案</a:t>
              </a:r>
            </a:p>
          </p:txBody>
        </p:sp>
        <p:cxnSp>
          <p:nvCxnSpPr>
            <p:cNvPr id="8" name="直接连接符 7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05370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08154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2</a:t>
              </a:r>
              <a:endParaRPr lang="zh-CN" altLang="en-US" sz="12800" dirty="0">
                <a:solidFill>
                  <a:prstClr val="white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单元电路设计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857756" y="5096814"/>
            <a:ext cx="8437108" cy="4603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声音采集电路设计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采集放大电路设计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十进制计数器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CD4017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电路设计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LED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发光指示电路设计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423535" y="1678305"/>
            <a:ext cx="4890770" cy="3896360"/>
            <a:chOff x="7277" y="2643"/>
            <a:chExt cx="7702" cy="6136"/>
          </a:xfrm>
        </p:grpSpPr>
        <p:sp>
          <p:nvSpPr>
            <p:cNvPr id="53" name="任意多边形 2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>
              <p:custDataLst>
                <p:tags r:id="rId2"/>
              </p:custDataLst>
            </p:nvPr>
          </p:nvSpPr>
          <p:spPr>
            <a:xfrm>
              <a:off x="7277" y="2643"/>
              <a:ext cx="7703" cy="6137"/>
            </a:xfrm>
            <a:custGeom>
              <a:avLst/>
              <a:gdLst>
                <a:gd name="connsiteX0" fmla="*/ 0 w 5180380"/>
                <a:gd name="connsiteY0" fmla="*/ 0 h 812800"/>
                <a:gd name="connsiteX1" fmla="*/ 5180380 w 5180380"/>
                <a:gd name="connsiteY1" fmla="*/ 0 h 812800"/>
                <a:gd name="connsiteX2" fmla="*/ 5180380 w 5180380"/>
                <a:gd name="connsiteY2" fmla="*/ 812800 h 812800"/>
                <a:gd name="connsiteX3" fmla="*/ 0 w 5180380"/>
                <a:gd name="connsiteY3" fmla="*/ 812800 h 812800"/>
                <a:gd name="connsiteX4" fmla="*/ 0 w 5180380"/>
                <a:gd name="connsiteY4" fmla="*/ 0 h 8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80380" h="812800">
                  <a:moveTo>
                    <a:pt x="0" y="0"/>
                  </a:moveTo>
                  <a:lnTo>
                    <a:pt x="5180380" y="0"/>
                  </a:lnTo>
                  <a:lnTo>
                    <a:pt x="518038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70B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0213" tIns="111760" rIns="111760" bIns="111760" numCol="1" spcCol="1270" anchor="ctr" anchorCtr="0">
              <a:noAutofit/>
            </a:bodyPr>
            <a:lstStyle/>
            <a:p>
              <a:pPr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40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7437" y="2643"/>
              <a:ext cx="7158" cy="6035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marL="0" indent="266700" algn="just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采用元器件：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驻极体电容话筒、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2.2μF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电容、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Times New Roman" panose="02020603050405020304"/>
                </a:rPr>
                <a:t>20k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Ω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电阻。</a:t>
              </a:r>
            </a:p>
            <a:p>
              <a:pPr marL="0" indent="266700" algn="just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模块功能：将采集到的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环境声音信号</a:t>
              </a:r>
              <a:r>
                <a:rPr lang="zh-CN" altLang="en-US" sz="1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转化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为随声压变化的交流</a:t>
              </a:r>
              <a:r>
                <a:rPr lang="zh-CN" altLang="en-US" sz="1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电压信号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，通过电容耦合后</a:t>
              </a:r>
              <a:r>
                <a:rPr lang="zh-CN" altLang="en-US" sz="1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送入放大器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。</a:t>
              </a:r>
            </a:p>
            <a:p>
              <a:pPr marL="0" indent="266700" algn="just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电阻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：话筒供电限流。</a:t>
              </a:r>
            </a:p>
            <a:p>
              <a:pPr marL="0" indent="266700" algn="just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电容：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信号耦合和高通滤波。</a:t>
              </a:r>
            </a:p>
            <a:p>
              <a:pPr marL="0" indent="266700" algn="just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Times New Roman" panose="02020603050405020304"/>
                </a:rPr>
                <a:t>MIC</a:t>
              </a:r>
              <a:r>
                <a:rPr lang="zh-CN" altLang="en-US" sz="1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结构：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1</a:t>
              </a:r>
              <a:r>
                <a:rPr lang="zh-CN" altLang="en-US" sz="1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脚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和外壳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—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接地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  2</a:t>
              </a:r>
              <a:r>
                <a:rPr lang="zh-CN" altLang="en-US" sz="1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脚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—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输出电压（经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Times New Roman" panose="02020603050405020304"/>
                </a:rPr>
                <a:t>R1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接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Times New Roman" panose="02020603050405020304"/>
                </a:rPr>
                <a:t>VCC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、经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Times New Roman" panose="02020603050405020304"/>
                </a:rPr>
                <a:t>C3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接</a:t>
              </a:r>
              <a:r>
                <a:rPr lang="en-US" altLang="zh-CN" sz="1600" b="1">
                  <a:solidFill>
                    <a:schemeClr val="bg1"/>
                  </a:solidFill>
                  <a:latin typeface="Times New Roman" panose="02020603050405020304"/>
                  <a:ea typeface="Times New Roman" panose="02020603050405020304"/>
                </a:rPr>
                <a:t>9018</a:t>
              </a:r>
              <a:r>
                <a:rPr lang="zh-CN" altLang="en-US" sz="1600" b="1">
                  <a:solidFill>
                    <a:schemeClr val="bg1"/>
                  </a:solidFill>
                  <a:latin typeface="Times New Roman" panose="02020603050405020304"/>
                  <a:ea typeface="宋体" panose="02010600030101010101" pitchFamily="2" charset="-122"/>
                </a:rPr>
                <a:t>基极）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23240" y="1729105"/>
            <a:ext cx="5080000" cy="3815715"/>
            <a:chOff x="-200" y="2931"/>
            <a:chExt cx="8000" cy="6009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81" y="2931"/>
              <a:ext cx="4638" cy="5849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-200" y="6720"/>
              <a:ext cx="8000" cy="2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endParaRPr lang="en-US" altLang="zh-CN" sz="2600" dirty="0"/>
            </a:p>
            <a:p>
              <a:pPr marL="0" indent="0" algn="ctr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en-US" altLang="zh-CN" sz="1600" dirty="0">
                  <a:latin typeface="Times New Roman" panose="02020603050405020304"/>
                  <a:ea typeface="宋体" panose="02010600030101010101" pitchFamily="2" charset="-122"/>
                </a:rPr>
                <a:t> </a:t>
              </a:r>
            </a:p>
            <a:p>
              <a:pPr marL="0" indent="0" algn="ctr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图</a:t>
              </a:r>
              <a:r>
                <a:rPr lang="en-US" altLang="zh-CN" sz="1600" dirty="0">
                  <a:latin typeface="Times New Roman" panose="02020603050405020304"/>
                  <a:ea typeface="宋体" panose="02010600030101010101" pitchFamily="2" charset="-122"/>
                </a:rPr>
                <a:t>2.1 </a:t>
              </a:r>
              <a:r>
                <a:rPr lang="zh-CN" altLang="en-US" sz="1600" dirty="0">
                  <a:latin typeface="Times New Roman" panose="02020603050405020304"/>
                  <a:ea typeface="宋体" panose="02010600030101010101" pitchFamily="2" charset="-122"/>
                </a:rPr>
                <a:t>声音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采集电路接线图</a:t>
              </a: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034742" y="538222"/>
            <a:ext cx="41225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en-US" altLang="zh-CN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1.</a:t>
            </a:r>
            <a:r>
              <a:rPr lang="zh-CN" altLang="en-US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声音采集电路设计</a:t>
            </a:r>
          </a:p>
        </p:txBody>
      </p:sp>
      <p:cxnSp>
        <p:nvCxnSpPr>
          <p:cNvPr id="13" name="直接连接符 1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<p:cNvCxnSpPr/>
          <p:nvPr/>
        </p:nvCxnSpPr>
        <p:spPr>
          <a:xfrm>
            <a:off x="5995989" y="1185781"/>
            <a:ext cx="184892" cy="0"/>
          </a:xfrm>
          <a:prstGeom prst="line">
            <a:avLst/>
          </a:prstGeom>
          <a:ln w="38100">
            <a:solidFill>
              <a:srgbClr val="1C4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034742" y="538222"/>
            <a:ext cx="41225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en-US" altLang="zh-CN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2.</a:t>
            </a:r>
            <a:r>
              <a:rPr lang="zh-CN" altLang="en-US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采集放大电路设计</a:t>
            </a:r>
          </a:p>
        </p:txBody>
      </p:sp>
      <p:cxnSp>
        <p:nvCxnSpPr>
          <p:cNvPr id="13" name="直接连接符 1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<p:cNvCxnSpPr/>
          <p:nvPr/>
        </p:nvCxnSpPr>
        <p:spPr>
          <a:xfrm>
            <a:off x="5995989" y="1185781"/>
            <a:ext cx="184892" cy="0"/>
          </a:xfrm>
          <a:prstGeom prst="line">
            <a:avLst/>
          </a:prstGeom>
          <a:ln w="38100">
            <a:solidFill>
              <a:srgbClr val="1C4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849110" y="5905500"/>
            <a:ext cx="378460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 dirty="0">
                <a:latin typeface="Times New Roman" panose="02020603050405020304"/>
                <a:ea typeface="宋体" panose="02010600030101010101" pitchFamily="2" charset="-122"/>
              </a:rPr>
              <a:t>2.2 </a:t>
            </a:r>
            <a:r>
              <a:rPr lang="zh-CN" altLang="en-US" sz="1600" dirty="0">
                <a:latin typeface="Times New Roman" panose="02020603050405020304"/>
                <a:ea typeface="宋体" panose="02010600030101010101" pitchFamily="2" charset="-122"/>
              </a:rPr>
              <a:t>三极管</a:t>
            </a:r>
            <a:r>
              <a:rPr lang="en-US" altLang="zh-CN" sz="1600" dirty="0">
                <a:latin typeface="Times New Roman" panose="02020603050405020304"/>
                <a:ea typeface="宋体" panose="02010600030101010101" pitchFamily="2" charset="-122"/>
              </a:rPr>
              <a:t>9018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构成的放大电路接线图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934720" y="1316990"/>
            <a:ext cx="5323840" cy="4735830"/>
            <a:chOff x="1472" y="1802"/>
            <a:chExt cx="8384" cy="7458"/>
          </a:xfrm>
        </p:grpSpPr>
        <p:sp>
          <p:nvSpPr>
            <p:cNvPr id="16" name="文本框 15"/>
            <p:cNvSpPr txBox="1"/>
            <p:nvPr/>
          </p:nvSpPr>
          <p:spPr>
            <a:xfrm>
              <a:off x="1472" y="1802"/>
              <a:ext cx="8000" cy="391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indent="266700" algn="just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采用元器件：</a:t>
              </a:r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三极管</a:t>
              </a:r>
              <a:r>
                <a:rPr lang="en-US" altLang="zh-CN" sz="1600">
                  <a:latin typeface="Times New Roman" panose="02020603050405020304"/>
                  <a:ea typeface="Times New Roman" panose="02020603050405020304"/>
                </a:rPr>
                <a:t>9018</a:t>
              </a:r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、</a:t>
              </a:r>
              <a:r>
                <a:rPr lang="en-US" altLang="zh-CN" sz="1600">
                  <a:latin typeface="Times New Roman" panose="02020603050405020304"/>
                  <a:ea typeface="Times New Roman" panose="02020603050405020304"/>
                </a:rPr>
                <a:t>1</a:t>
              </a:r>
              <a:r>
                <a:rPr lang="en-US" altLang="zh-CN" sz="1600">
                  <a:latin typeface="Times New Roman" panose="02020603050405020304"/>
                  <a:ea typeface="宋体" panose="02010600030101010101" pitchFamily="2" charset="-122"/>
                </a:rPr>
                <a:t>μF</a:t>
              </a: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电容</a:t>
              </a:r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、</a:t>
              </a:r>
              <a:r>
                <a:rPr lang="en-US" altLang="zh-CN" sz="1600">
                  <a:latin typeface="Times New Roman" panose="02020603050405020304"/>
                  <a:ea typeface="Times New Roman" panose="02020603050405020304"/>
                </a:rPr>
                <a:t>10k</a:t>
              </a:r>
              <a:r>
                <a:rPr lang="en-US" altLang="zh-CN" sz="1600">
                  <a:latin typeface="Times New Roman" panose="02020603050405020304"/>
                  <a:ea typeface="宋体" panose="02010600030101010101" pitchFamily="2" charset="-122"/>
                </a:rPr>
                <a:t>Ω</a:t>
              </a:r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和</a:t>
              </a:r>
              <a:r>
                <a:rPr lang="en-US" altLang="zh-CN" sz="1600">
                  <a:latin typeface="Times New Roman" panose="02020603050405020304"/>
                  <a:ea typeface="宋体" panose="02010600030101010101" pitchFamily="2" charset="-122"/>
                </a:rPr>
                <a:t>1.5MΩ</a:t>
              </a: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电阻</a:t>
              </a:r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。</a:t>
              </a:r>
            </a:p>
            <a:p>
              <a:pPr marL="0" indent="266700" algn="just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模块功能：</a:t>
              </a:r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共发射极反相</a:t>
              </a: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放大器将</a:t>
              </a:r>
              <a:r>
                <a:rPr lang="en-US" altLang="zh-CN" sz="1600">
                  <a:latin typeface="Times New Roman" panose="02020603050405020304"/>
                  <a:ea typeface="Times New Roman" panose="02020603050405020304"/>
                </a:rPr>
                <a:t>MIC</a:t>
              </a: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采集到的电压信号</a:t>
              </a:r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反相放大约</a:t>
              </a:r>
              <a:r>
                <a:rPr lang="en-US" altLang="zh-CN" sz="1600">
                  <a:latin typeface="Times New Roman" panose="02020603050405020304"/>
                  <a:ea typeface="Times New Roman" panose="02020603050405020304"/>
                </a:rPr>
                <a:t>115.5</a:t>
              </a:r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倍，并转换为数字脉冲信号输出，用于驱动</a:t>
              </a:r>
              <a:r>
                <a:rPr lang="en-US" altLang="zh-CN" sz="1600">
                  <a:latin typeface="Times New Roman" panose="02020603050405020304"/>
                  <a:ea typeface="Times New Roman" panose="02020603050405020304"/>
                </a:rPr>
                <a:t>CD4017</a:t>
              </a:r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的时钟输入端。</a:t>
              </a:r>
            </a:p>
            <a:p>
              <a:pPr marL="800100" indent="-533400" algn="just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计算公式：</a:t>
              </a:r>
            </a:p>
          </p:txBody>
        </p:sp>
        <p:pic>
          <p:nvPicPr>
            <p:cNvPr id="17" name="图片 16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472" y="5718"/>
              <a:ext cx="4080" cy="864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1856" y="6583"/>
              <a:ext cx="8000" cy="62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化简得</a:t>
              </a:r>
              <a:r>
                <a:rPr lang="en-US" altLang="zh-CN" sz="2000">
                  <a:latin typeface="Times New Roman" panose="02020603050405020304"/>
                  <a:ea typeface="宋体" panose="02010600030101010101" pitchFamily="2" charset="-122"/>
                </a:rPr>
                <a:t> </a:t>
              </a:r>
            </a:p>
          </p:txBody>
        </p:sp>
        <p:pic>
          <p:nvPicPr>
            <p:cNvPr id="19" name="图片 18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472" y="7217"/>
              <a:ext cx="3708" cy="624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1472" y="7841"/>
              <a:ext cx="8000" cy="87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800100" indent="-533400" algn="just" defTabSz="266700">
                <a:lnSpc>
                  <a:spcPct val="150000"/>
                </a:lnSpc>
                <a:spcBef>
                  <a:spcPts val="700"/>
                </a:spcBef>
                <a:spcAft>
                  <a:spcPct val="0"/>
                </a:spcAft>
              </a:pPr>
              <a:r>
                <a:rPr lang="zh-CN" altLang="en-US" sz="1600">
                  <a:latin typeface="Times New Roman" panose="02020603050405020304"/>
                  <a:ea typeface="宋体" panose="02010600030101010101" pitchFamily="2" charset="-122"/>
                </a:rPr>
                <a:t>可得</a:t>
              </a:r>
              <a:r>
                <a:rPr lang="en-US" altLang="zh-CN" sz="2000">
                  <a:latin typeface="Times New Roman" panose="02020603050405020304"/>
                  <a:ea typeface="宋体" panose="02010600030101010101" pitchFamily="2" charset="-122"/>
                </a:rPr>
                <a:t> </a:t>
              </a:r>
            </a:p>
          </p:txBody>
        </p:sp>
        <p:pic>
          <p:nvPicPr>
            <p:cNvPr id="21" name="图片 20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472" y="8636"/>
              <a:ext cx="3840" cy="624"/>
            </a:xfrm>
            <a:prstGeom prst="rect">
              <a:avLst/>
            </a:prstGeom>
          </p:spPr>
        </p:pic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1985" y="1618615"/>
            <a:ext cx="3396615" cy="417893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 2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>
            <p:custDataLst>
              <p:tags r:id="rId2"/>
            </p:custDataLst>
          </p:nvPr>
        </p:nvSpPr>
        <p:spPr>
          <a:xfrm>
            <a:off x="5996940" y="1678305"/>
            <a:ext cx="4369435" cy="3733800"/>
          </a:xfrm>
          <a:custGeom>
            <a:avLst/>
            <a:gdLst>
              <a:gd name="connsiteX0" fmla="*/ 0 w 5180380"/>
              <a:gd name="connsiteY0" fmla="*/ 0 h 812800"/>
              <a:gd name="connsiteX1" fmla="*/ 5180380 w 5180380"/>
              <a:gd name="connsiteY1" fmla="*/ 0 h 812800"/>
              <a:gd name="connsiteX2" fmla="*/ 5180380 w 5180380"/>
              <a:gd name="connsiteY2" fmla="*/ 812800 h 812800"/>
              <a:gd name="connsiteX3" fmla="*/ 0 w 5180380"/>
              <a:gd name="connsiteY3" fmla="*/ 812800 h 812800"/>
              <a:gd name="connsiteX4" fmla="*/ 0 w 518038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0380" h="812800">
                <a:moveTo>
                  <a:pt x="0" y="0"/>
                </a:moveTo>
                <a:lnTo>
                  <a:pt x="5180380" y="0"/>
                </a:lnTo>
                <a:lnTo>
                  <a:pt x="51803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69665" y="538480"/>
            <a:ext cx="4853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en-US" altLang="zh-CN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3.</a:t>
            </a:r>
            <a:r>
              <a:rPr lang="zh-CN" altLang="en-US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十进制计数器</a:t>
            </a:r>
            <a:r>
              <a:rPr lang="en-US" altLang="zh-CN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CD4017</a:t>
            </a:r>
            <a:r>
              <a:rPr lang="zh-CN" altLang="en-US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电路设计</a:t>
            </a:r>
          </a:p>
        </p:txBody>
      </p:sp>
      <p:cxnSp>
        <p:nvCxnSpPr>
          <p:cNvPr id="13" name="直接连接符 1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<p:cNvCxnSpPr/>
          <p:nvPr/>
        </p:nvCxnSpPr>
        <p:spPr>
          <a:xfrm>
            <a:off x="5995989" y="1185781"/>
            <a:ext cx="184892" cy="0"/>
          </a:xfrm>
          <a:prstGeom prst="line">
            <a:avLst/>
          </a:prstGeom>
          <a:ln w="38100">
            <a:solidFill>
              <a:srgbClr val="1C4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181090" y="1718310"/>
            <a:ext cx="3927475" cy="31826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266700" algn="just" defTabSz="266700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具体电路中，电源电压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3V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。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14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脚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CP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端经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μF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电容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C2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接放大器输出端，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16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脚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VDD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连接电源正极，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8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脚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VSS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和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13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脚使能端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EN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共同接地以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保持持续计数状态，复位端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15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脚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RST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接地确保循环工作模式。</a:t>
            </a:r>
          </a:p>
          <a:p>
            <a:pPr marL="0" indent="266700" algn="just" defTabSz="266700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十路输出引脚各自串联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470Ω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限流电阻后连接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/>
                <a:ea typeface="宋体" panose="02010600030101010101" pitchFamily="2" charset="-122"/>
              </a:rPr>
              <a:t>LED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阳极。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374" y="1593215"/>
            <a:ext cx="4170045" cy="38188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04766" y="5589905"/>
            <a:ext cx="373126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600" dirty="0">
                <a:latin typeface="Times New Roman" panose="02020603050405020304"/>
                <a:ea typeface="宋体" panose="02010600030101010101" pitchFamily="2" charset="-122"/>
              </a:rPr>
              <a:t> </a:t>
            </a:r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zh-CN" altLang="en-US" sz="1600" dirty="0">
                <a:latin typeface="Times New Roman" panose="02020603050405020304"/>
                <a:ea typeface="宋体" panose="02010600030101010101" pitchFamily="2" charset="-122"/>
              </a:rPr>
              <a:t>2.3 CD4017</a:t>
            </a:r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十进制计数器电路接线图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669665" y="538480"/>
            <a:ext cx="4853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en-US" altLang="zh-CN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4.LED</a:t>
            </a:r>
            <a:r>
              <a:rPr lang="zh-CN" altLang="en-US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发光指示电路设计</a:t>
            </a:r>
          </a:p>
        </p:txBody>
      </p:sp>
      <p:cxnSp>
        <p:nvCxnSpPr>
          <p:cNvPr id="13" name="直接连接符 1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<p:cNvCxnSpPr/>
          <p:nvPr/>
        </p:nvCxnSpPr>
        <p:spPr>
          <a:xfrm>
            <a:off x="5995989" y="1185781"/>
            <a:ext cx="184892" cy="0"/>
          </a:xfrm>
          <a:prstGeom prst="line">
            <a:avLst/>
          </a:prstGeom>
          <a:ln w="38100">
            <a:solidFill>
              <a:srgbClr val="1C4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461135" y="1924685"/>
            <a:ext cx="3774440" cy="2766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266700" algn="just" defTabSz="266700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LED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发光指示电路由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4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个红色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LED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个黄色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LED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个绿色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LED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和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470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Ω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限流电阻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R4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组成，采用共阴极接法。</a:t>
            </a:r>
          </a:p>
          <a:p>
            <a:pPr marL="0" indent="266700" algn="just" defTabSz="266700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十个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LED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的阳极分别连接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CD4017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的十个输出端，阴极共用一个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470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Ω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电阻后接地，根据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CD4017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输出端的高电平信号依次循环点亮不同的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LED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，形成流水效果。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810" y="1957070"/>
            <a:ext cx="4864100" cy="30105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28560" y="5215890"/>
            <a:ext cx="302260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 dirty="0">
                <a:latin typeface="Times New Roman" panose="02020603050405020304"/>
                <a:ea typeface="宋体" panose="02010600030101010101" pitchFamily="2" charset="-122"/>
              </a:rPr>
              <a:t>2.4 LED</a:t>
            </a:r>
            <a:r>
              <a:rPr lang="zh-CN" altLang="en-US" sz="1600" dirty="0">
                <a:latin typeface="Times New Roman" panose="02020603050405020304"/>
                <a:ea typeface="宋体" panose="02010600030101010101" pitchFamily="2" charset="-122"/>
              </a:rPr>
              <a:t>发光指示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电路接线图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 2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>
            <p:custDataLst>
              <p:tags r:id="rId2"/>
            </p:custDataLst>
          </p:nvPr>
        </p:nvSpPr>
        <p:spPr>
          <a:xfrm>
            <a:off x="5996940" y="1678305"/>
            <a:ext cx="4369435" cy="3733800"/>
          </a:xfrm>
          <a:custGeom>
            <a:avLst/>
            <a:gdLst>
              <a:gd name="connsiteX0" fmla="*/ 0 w 5180380"/>
              <a:gd name="connsiteY0" fmla="*/ 0 h 812800"/>
              <a:gd name="connsiteX1" fmla="*/ 5180380 w 5180380"/>
              <a:gd name="connsiteY1" fmla="*/ 0 h 812800"/>
              <a:gd name="connsiteX2" fmla="*/ 5180380 w 5180380"/>
              <a:gd name="connsiteY2" fmla="*/ 812800 h 812800"/>
              <a:gd name="connsiteX3" fmla="*/ 0 w 5180380"/>
              <a:gd name="connsiteY3" fmla="*/ 812800 h 812800"/>
              <a:gd name="connsiteX4" fmla="*/ 0 w 518038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0380" h="812800">
                <a:moveTo>
                  <a:pt x="0" y="0"/>
                </a:moveTo>
                <a:lnTo>
                  <a:pt x="5180380" y="0"/>
                </a:lnTo>
                <a:lnTo>
                  <a:pt x="51803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69665" y="538480"/>
            <a:ext cx="4853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en-US" altLang="zh-CN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5.</a:t>
            </a:r>
            <a:r>
              <a:rPr lang="zh-CN" altLang="en-US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总体设计图</a:t>
            </a:r>
          </a:p>
        </p:txBody>
      </p:sp>
      <p:cxnSp>
        <p:nvCxnSpPr>
          <p:cNvPr id="13" name="直接连接符 1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<p:cNvCxnSpPr/>
          <p:nvPr/>
        </p:nvCxnSpPr>
        <p:spPr>
          <a:xfrm>
            <a:off x="5995989" y="1185781"/>
            <a:ext cx="184892" cy="0"/>
          </a:xfrm>
          <a:prstGeom prst="line">
            <a:avLst/>
          </a:prstGeom>
          <a:ln w="38100">
            <a:solidFill>
              <a:srgbClr val="1C4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181090" y="1718310"/>
            <a:ext cx="3927475" cy="31826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266700" algn="just" defTabSz="266700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</a:t>
            </a:r>
            <a:r>
              <a:rPr lang="en-US" altLang="zh-CN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Multism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仿真软件不支持实时获取外部声源信号输入，经相关资料的搜索，在仿真图中用</a:t>
            </a:r>
            <a:r>
              <a:rPr lang="en-US" altLang="zh-CN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AC_VOLTAGE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信号源代替</a:t>
            </a:r>
            <a:r>
              <a:rPr lang="en-US" altLang="zh-CN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MIC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组成等效电路模型，并为每个二极管额外增加一个</a:t>
            </a:r>
            <a:r>
              <a:rPr lang="en-US" altLang="zh-CN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470Ω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的电阻，成功实现仿真图动态流水效果。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77073" y="5366385"/>
            <a:ext cx="236537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600" dirty="0">
                <a:latin typeface="Times New Roman" panose="02020603050405020304"/>
                <a:ea typeface="宋体" panose="02010600030101010101" pitchFamily="2" charset="-122"/>
              </a:rPr>
              <a:t> </a:t>
            </a:r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zh-CN" altLang="en-US" sz="1600" dirty="0">
                <a:latin typeface="Times New Roman" panose="02020603050405020304"/>
                <a:ea typeface="宋体" panose="02010600030101010101" pitchFamily="2" charset="-122"/>
              </a:rPr>
              <a:t>2.</a:t>
            </a:r>
            <a:r>
              <a:rPr lang="en-US" altLang="zh-CN" sz="1600" dirty="0">
                <a:latin typeface="Times New Roman" panose="02020603050405020304"/>
                <a:ea typeface="宋体" panose="02010600030101010101" pitchFamily="2" charset="-122"/>
              </a:rPr>
              <a:t>5</a:t>
            </a:r>
            <a:r>
              <a:rPr lang="zh-CN" altLang="en-US" sz="1600" dirty="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Times New Roman" panose="02020603050405020304"/>
                <a:ea typeface="宋体" panose="02010600030101010101" pitchFamily="2" charset="-122"/>
              </a:rPr>
              <a:t>Multism</a:t>
            </a:r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仿真图</a:t>
            </a:r>
          </a:p>
        </p:txBody>
      </p:sp>
      <p:pic>
        <p:nvPicPr>
          <p:cNvPr id="731243861" name="图片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9023" y="1459230"/>
            <a:ext cx="4181475" cy="377698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798536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3</a:t>
              </a:r>
              <a:endParaRPr lang="zh-CN" altLang="en-US" sz="12800" dirty="0">
                <a:solidFill>
                  <a:prstClr val="white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实物图和元件清单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857756" y="5096814"/>
            <a:ext cx="8437108" cy="4603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印制板图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实物图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实际原理图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元件清单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669665" y="538480"/>
            <a:ext cx="4853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en-US" altLang="zh-CN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1.</a:t>
            </a:r>
            <a:r>
              <a:rPr lang="zh-CN" altLang="en-US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实物图</a:t>
            </a:r>
          </a:p>
        </p:txBody>
      </p:sp>
      <p:cxnSp>
        <p:nvCxnSpPr>
          <p:cNvPr id="13" name="直接连接符 1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<p:cNvCxnSpPr/>
          <p:nvPr/>
        </p:nvCxnSpPr>
        <p:spPr>
          <a:xfrm>
            <a:off x="5995989" y="1185781"/>
            <a:ext cx="184892" cy="0"/>
          </a:xfrm>
          <a:prstGeom prst="line">
            <a:avLst/>
          </a:prstGeom>
          <a:ln w="38100">
            <a:solidFill>
              <a:srgbClr val="1C4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4"/>
          <p:cNvPicPr>
            <a:picLocks noGrp="1" noChangeAspect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713740" y="1412875"/>
            <a:ext cx="5017770" cy="2200910"/>
          </a:xfrm>
        </p:spPr>
      </p:pic>
      <p:pic>
        <p:nvPicPr>
          <p:cNvPr id="4099" name="Picture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13740" y="3613785"/>
            <a:ext cx="5017770" cy="27412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0261371" name="图片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31193" y="1402715"/>
            <a:ext cx="5267325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2713673" y="1089025"/>
            <a:ext cx="101790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印制板图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917498" y="1094105"/>
            <a:ext cx="8947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实物图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731510" y="4020185"/>
            <a:ext cx="526669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266700" algn="just" defTabSz="266700">
              <a:lnSpc>
                <a:spcPct val="150000"/>
              </a:lnSpc>
              <a:spcBef>
                <a:spcPts val="700"/>
              </a:spcBef>
              <a:buClrTx/>
              <a:buSzTx/>
              <a:buFontTx/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由于底板上已预先印制好电路走线，只需将元器件放置在对应位置并使用焊枪焊接焊点，再折断引脚即可。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在此之后，安装电池并按下自锁开关，流水灯就会开始工作，您可感受到声与光的美妙旋律组合。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C049098-6566-28A3-067B-9C65E4EC4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3740" y="1406553"/>
            <a:ext cx="5017453" cy="220091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669665" y="538480"/>
            <a:ext cx="4853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en-US" altLang="zh-CN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2.</a:t>
            </a:r>
            <a:r>
              <a:rPr lang="zh-CN" altLang="en-US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元件清单</a:t>
            </a:r>
          </a:p>
        </p:txBody>
      </p:sp>
      <p:cxnSp>
        <p:nvCxnSpPr>
          <p:cNvPr id="13" name="直接连接符 1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<p:cNvCxnSpPr/>
          <p:nvPr/>
        </p:nvCxnSpPr>
        <p:spPr>
          <a:xfrm>
            <a:off x="5995989" y="1185781"/>
            <a:ext cx="184892" cy="0"/>
          </a:xfrm>
          <a:prstGeom prst="line">
            <a:avLst/>
          </a:prstGeom>
          <a:ln w="38100">
            <a:solidFill>
              <a:srgbClr val="1C49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767205" y="1372235"/>
          <a:ext cx="8642350" cy="4311015"/>
        </p:xfrm>
        <a:graphic>
          <a:graphicData uri="http://schemas.openxmlformats.org/drawingml/2006/table">
            <a:tbl>
              <a:tblPr/>
              <a:tblGrid>
                <a:gridCol w="1403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6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935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器件名称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个数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器件名称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个数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CD4017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电阻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20K</a:t>
                      </a: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Ω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720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发光二极管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Φ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红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1.5M</a:t>
                      </a: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Ω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0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Φ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绿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10K</a:t>
                      </a: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Ω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7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Φ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黄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驻极体电容话筒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570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三极管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9018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自锁开关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15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电解电容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100</a:t>
                      </a: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μF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电池盒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7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2.2</a:t>
                      </a: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μF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印制电路底板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3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μF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导线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若干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548380" y="5779135"/>
            <a:ext cx="5080000" cy="5067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266700">
              <a:lnSpc>
                <a:spcPct val="150000"/>
              </a:lnSpc>
              <a:spcBef>
                <a:spcPts val="70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>
                <a:latin typeface="Times New Roman" panose="02020603050405020304"/>
                <a:ea typeface="宋体" panose="02010600030101010101" pitchFamily="2" charset="-122"/>
              </a:rPr>
              <a:t>3.1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元器件清单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字魂58号-创中黑" panose="00000500000000000000" pitchFamily="2" charset="-122"/>
                      <a:ea typeface="字魂58号-创中黑" panose="00000500000000000000" pitchFamily="2" charset="-122"/>
                      <a:sym typeface="字魂58号-创中黑" panose="00000500000000000000" pitchFamily="2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1296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4</a:t>
              </a:r>
              <a:endParaRPr lang="zh-CN" altLang="en-US" sz="12800" dirty="0">
                <a:solidFill>
                  <a:prstClr val="white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调试与测试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857756" y="5096814"/>
            <a:ext cx="8437108" cy="414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调试过程采用分级模块化调试，按信号流向顺序测试各单元电路，最后进行系统联调。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en-US" altLang="zh-CN" sz="2400" b="0" dirty="0">
                  <a:solidFill>
                    <a:srgbClr val="0170B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1.</a:t>
              </a:r>
              <a:r>
                <a:rPr lang="zh-CN" altLang="en-US" sz="2400" b="0" dirty="0">
                  <a:solidFill>
                    <a:srgbClr val="0170B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焊接检查</a:t>
              </a: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755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endPara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任意多边形 55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2665087" y="1665320"/>
            <a:ext cx="414934" cy="558626"/>
          </a:xfrm>
          <a:custGeom>
            <a:avLst/>
            <a:gdLst>
              <a:gd name="connsiteX0" fmla="*/ 409952 w 2787274"/>
              <a:gd name="connsiteY0" fmla="*/ 2202379 h 3752511"/>
              <a:gd name="connsiteX1" fmla="*/ 1752594 w 2787274"/>
              <a:gd name="connsiteY1" fmla="*/ 2202379 h 3752511"/>
              <a:gd name="connsiteX2" fmla="*/ 1752594 w 2787274"/>
              <a:gd name="connsiteY2" fmla="*/ 2337346 h 3752511"/>
              <a:gd name="connsiteX3" fmla="*/ 409952 w 2787274"/>
              <a:gd name="connsiteY3" fmla="*/ 2337346 h 3752511"/>
              <a:gd name="connsiteX4" fmla="*/ 409952 w 2787274"/>
              <a:gd name="connsiteY4" fmla="*/ 1816910 h 3752511"/>
              <a:gd name="connsiteX5" fmla="*/ 1752594 w 2787274"/>
              <a:gd name="connsiteY5" fmla="*/ 1816910 h 3752511"/>
              <a:gd name="connsiteX6" fmla="*/ 1752594 w 2787274"/>
              <a:gd name="connsiteY6" fmla="*/ 1951877 h 3752511"/>
              <a:gd name="connsiteX7" fmla="*/ 409952 w 2787274"/>
              <a:gd name="connsiteY7" fmla="*/ 1951877 h 3752511"/>
              <a:gd name="connsiteX8" fmla="*/ 409952 w 2787274"/>
              <a:gd name="connsiteY8" fmla="*/ 1431441 h 3752511"/>
              <a:gd name="connsiteX9" fmla="*/ 1752594 w 2787274"/>
              <a:gd name="connsiteY9" fmla="*/ 1431441 h 3752511"/>
              <a:gd name="connsiteX10" fmla="*/ 1752594 w 2787274"/>
              <a:gd name="connsiteY10" fmla="*/ 1566408 h 3752511"/>
              <a:gd name="connsiteX11" fmla="*/ 409952 w 2787274"/>
              <a:gd name="connsiteY11" fmla="*/ 1566408 h 3752511"/>
              <a:gd name="connsiteX12" fmla="*/ 409952 w 2787274"/>
              <a:gd name="connsiteY12" fmla="*/ 1058643 h 3752511"/>
              <a:gd name="connsiteX13" fmla="*/ 1752594 w 2787274"/>
              <a:gd name="connsiteY13" fmla="*/ 1058643 h 3752511"/>
              <a:gd name="connsiteX14" fmla="*/ 1752594 w 2787274"/>
              <a:gd name="connsiteY14" fmla="*/ 1193610 h 3752511"/>
              <a:gd name="connsiteX15" fmla="*/ 409952 w 2787274"/>
              <a:gd name="connsiteY15" fmla="*/ 1193610 h 3752511"/>
              <a:gd name="connsiteX16" fmla="*/ 2566014 w 2787274"/>
              <a:gd name="connsiteY16" fmla="*/ 513302 h 3752511"/>
              <a:gd name="connsiteX17" fmla="*/ 2651646 w 2787274"/>
              <a:gd name="connsiteY17" fmla="*/ 513302 h 3752511"/>
              <a:gd name="connsiteX18" fmla="*/ 2776616 w 2787274"/>
              <a:gd name="connsiteY18" fmla="*/ 595734 h 3752511"/>
              <a:gd name="connsiteX19" fmla="*/ 2787274 w 2787274"/>
              <a:gd name="connsiteY19" fmla="*/ 648269 h 3752511"/>
              <a:gd name="connsiteX20" fmla="*/ 2787274 w 2787274"/>
              <a:gd name="connsiteY20" fmla="*/ 3617544 h 3752511"/>
              <a:gd name="connsiteX21" fmla="*/ 2651646 w 2787274"/>
              <a:gd name="connsiteY21" fmla="*/ 3752511 h 3752511"/>
              <a:gd name="connsiteX22" fmla="*/ 766494 w 2787274"/>
              <a:gd name="connsiteY22" fmla="*/ 3752511 h 3752511"/>
              <a:gd name="connsiteX23" fmla="*/ 630866 w 2787274"/>
              <a:gd name="connsiteY23" fmla="*/ 3617544 h 3752511"/>
              <a:gd name="connsiteX24" fmla="*/ 630866 w 2787274"/>
              <a:gd name="connsiteY24" fmla="*/ 3586256 h 3752511"/>
              <a:gd name="connsiteX25" fmla="*/ 2419048 w 2787274"/>
              <a:gd name="connsiteY25" fmla="*/ 3586256 h 3752511"/>
              <a:gd name="connsiteX26" fmla="*/ 2566014 w 2787274"/>
              <a:gd name="connsiteY26" fmla="*/ 3443791 h 3752511"/>
              <a:gd name="connsiteX27" fmla="*/ 803198 w 2787274"/>
              <a:gd name="connsiteY27" fmla="*/ 270725 h 3752511"/>
              <a:gd name="connsiteX28" fmla="*/ 803198 w 2787274"/>
              <a:gd name="connsiteY28" fmla="*/ 675626 h 3752511"/>
              <a:gd name="connsiteX29" fmla="*/ 667570 w 2787274"/>
              <a:gd name="connsiteY29" fmla="*/ 810593 h 3752511"/>
              <a:gd name="connsiteX30" fmla="*/ 274324 w 2787274"/>
              <a:gd name="connsiteY30" fmla="*/ 810593 h 3752511"/>
              <a:gd name="connsiteX31" fmla="*/ 274324 w 2787274"/>
              <a:gd name="connsiteY31" fmla="*/ 1058643 h 3752511"/>
              <a:gd name="connsiteX32" fmla="*/ 274324 w 2787274"/>
              <a:gd name="connsiteY32" fmla="*/ 1193610 h 3752511"/>
              <a:gd name="connsiteX33" fmla="*/ 274324 w 2787274"/>
              <a:gd name="connsiteY33" fmla="*/ 1431441 h 3752511"/>
              <a:gd name="connsiteX34" fmla="*/ 274324 w 2787274"/>
              <a:gd name="connsiteY34" fmla="*/ 1566408 h 3752511"/>
              <a:gd name="connsiteX35" fmla="*/ 274324 w 2787274"/>
              <a:gd name="connsiteY35" fmla="*/ 1816910 h 3752511"/>
              <a:gd name="connsiteX36" fmla="*/ 274324 w 2787274"/>
              <a:gd name="connsiteY36" fmla="*/ 1951877 h 3752511"/>
              <a:gd name="connsiteX37" fmla="*/ 274324 w 2787274"/>
              <a:gd name="connsiteY37" fmla="*/ 2202379 h 3752511"/>
              <a:gd name="connsiteX38" fmla="*/ 274324 w 2787274"/>
              <a:gd name="connsiteY38" fmla="*/ 2337346 h 3752511"/>
              <a:gd name="connsiteX39" fmla="*/ 274324 w 2787274"/>
              <a:gd name="connsiteY39" fmla="*/ 2970066 h 3752511"/>
              <a:gd name="connsiteX40" fmla="*/ 1888221 w 2787274"/>
              <a:gd name="connsiteY40" fmla="*/ 2970066 h 3752511"/>
              <a:gd name="connsiteX41" fmla="*/ 1888221 w 2787274"/>
              <a:gd name="connsiteY41" fmla="*/ 270725 h 3752511"/>
              <a:gd name="connsiteX42" fmla="*/ 2249738 w 2787274"/>
              <a:gd name="connsiteY42" fmla="*/ 257047 h 3752511"/>
              <a:gd name="connsiteX43" fmla="*/ 2337747 w 2787274"/>
              <a:gd name="connsiteY43" fmla="*/ 257047 h 3752511"/>
              <a:gd name="connsiteX44" fmla="*/ 2462717 w 2787274"/>
              <a:gd name="connsiteY44" fmla="*/ 339479 h 3752511"/>
              <a:gd name="connsiteX45" fmla="*/ 2473375 w 2787274"/>
              <a:gd name="connsiteY45" fmla="*/ 392014 h 3752511"/>
              <a:gd name="connsiteX46" fmla="*/ 2473375 w 2787274"/>
              <a:gd name="connsiteY46" fmla="*/ 3361289 h 3752511"/>
              <a:gd name="connsiteX47" fmla="*/ 2337747 w 2787274"/>
              <a:gd name="connsiteY47" fmla="*/ 3496256 h 3752511"/>
              <a:gd name="connsiteX48" fmla="*/ 452595 w 2787274"/>
              <a:gd name="connsiteY48" fmla="*/ 3496256 h 3752511"/>
              <a:gd name="connsiteX49" fmla="*/ 316967 w 2787274"/>
              <a:gd name="connsiteY49" fmla="*/ 3361289 h 3752511"/>
              <a:gd name="connsiteX50" fmla="*/ 316967 w 2787274"/>
              <a:gd name="connsiteY50" fmla="*/ 3330001 h 3752511"/>
              <a:gd name="connsiteX51" fmla="*/ 2102772 w 2787274"/>
              <a:gd name="connsiteY51" fmla="*/ 3330001 h 3752511"/>
              <a:gd name="connsiteX52" fmla="*/ 2249738 w 2787274"/>
              <a:gd name="connsiteY52" fmla="*/ 3187536 h 3752511"/>
              <a:gd name="connsiteX53" fmla="*/ 671387 w 2787274"/>
              <a:gd name="connsiteY53" fmla="*/ 0 h 3752511"/>
              <a:gd name="connsiteX54" fmla="*/ 675473 w 2787274"/>
              <a:gd name="connsiteY54" fmla="*/ 791 h 3752511"/>
              <a:gd name="connsiteX55" fmla="*/ 2023849 w 2787274"/>
              <a:gd name="connsiteY55" fmla="*/ 791 h 3752511"/>
              <a:gd name="connsiteX56" fmla="*/ 2148819 w 2787274"/>
              <a:gd name="connsiteY56" fmla="*/ 83223 h 3752511"/>
              <a:gd name="connsiteX57" fmla="*/ 2159477 w 2787274"/>
              <a:gd name="connsiteY57" fmla="*/ 135758 h 3752511"/>
              <a:gd name="connsiteX58" fmla="*/ 2159477 w 2787274"/>
              <a:gd name="connsiteY58" fmla="*/ 3105033 h 3752511"/>
              <a:gd name="connsiteX59" fmla="*/ 2023849 w 2787274"/>
              <a:gd name="connsiteY59" fmla="*/ 3240000 h 3752511"/>
              <a:gd name="connsiteX60" fmla="*/ 138697 w 2787274"/>
              <a:gd name="connsiteY60" fmla="*/ 3240000 h 3752511"/>
              <a:gd name="connsiteX61" fmla="*/ 3069 w 2787274"/>
              <a:gd name="connsiteY61" fmla="*/ 3105033 h 3752511"/>
              <a:gd name="connsiteX62" fmla="*/ 3069 w 2787274"/>
              <a:gd name="connsiteY62" fmla="*/ 683811 h 3752511"/>
              <a:gd name="connsiteX63" fmla="*/ 0 w 2787274"/>
              <a:gd name="connsiteY63" fmla="*/ 668115 h 3752511"/>
              <a:gd name="connsiteX64" fmla="*/ 39724 w 2787274"/>
              <a:gd name="connsiteY64" fmla="*/ 572680 h 3752511"/>
              <a:gd name="connsiteX65" fmla="*/ 565413 w 2787274"/>
              <a:gd name="connsiteY65" fmla="*/ 49552 h 3752511"/>
              <a:gd name="connsiteX66" fmla="*/ 571667 w 2787274"/>
              <a:gd name="connsiteY66" fmla="*/ 40322 h 3752511"/>
              <a:gd name="connsiteX67" fmla="*/ 614778 w 2787274"/>
              <a:gd name="connsiteY67" fmla="*/ 11397 h 3752511"/>
              <a:gd name="connsiteX68" fmla="*/ 619491 w 2787274"/>
              <a:gd name="connsiteY68" fmla="*/ 10451 h 3752511"/>
              <a:gd name="connsiteX69" fmla="*/ 620350 w 2787274"/>
              <a:gd name="connsiteY69" fmla="*/ 9883 h 3752511"/>
              <a:gd name="connsiteX70" fmla="*/ 671387 w 2787274"/>
              <a:gd name="connsiteY70" fmla="*/ 0 h 375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787274" h="3752511">
                <a:moveTo>
                  <a:pt x="409952" y="2202379"/>
                </a:moveTo>
                <a:lnTo>
                  <a:pt x="1752594" y="2202379"/>
                </a:lnTo>
                <a:lnTo>
                  <a:pt x="1752594" y="2337346"/>
                </a:lnTo>
                <a:lnTo>
                  <a:pt x="409952" y="2337346"/>
                </a:lnTo>
                <a:close/>
                <a:moveTo>
                  <a:pt x="409952" y="1816910"/>
                </a:moveTo>
                <a:lnTo>
                  <a:pt x="1752594" y="1816910"/>
                </a:lnTo>
                <a:lnTo>
                  <a:pt x="1752594" y="1951877"/>
                </a:lnTo>
                <a:lnTo>
                  <a:pt x="409952" y="1951877"/>
                </a:lnTo>
                <a:close/>
                <a:moveTo>
                  <a:pt x="409952" y="1431441"/>
                </a:moveTo>
                <a:lnTo>
                  <a:pt x="1752594" y="1431441"/>
                </a:lnTo>
                <a:lnTo>
                  <a:pt x="1752594" y="1566408"/>
                </a:lnTo>
                <a:lnTo>
                  <a:pt x="409952" y="1566408"/>
                </a:lnTo>
                <a:close/>
                <a:moveTo>
                  <a:pt x="409952" y="1058643"/>
                </a:moveTo>
                <a:lnTo>
                  <a:pt x="1752594" y="1058643"/>
                </a:lnTo>
                <a:lnTo>
                  <a:pt x="1752594" y="1193610"/>
                </a:lnTo>
                <a:lnTo>
                  <a:pt x="409952" y="1193610"/>
                </a:lnTo>
                <a:close/>
                <a:moveTo>
                  <a:pt x="2566014" y="513302"/>
                </a:moveTo>
                <a:lnTo>
                  <a:pt x="2651646" y="513302"/>
                </a:lnTo>
                <a:cubicBezTo>
                  <a:pt x="2707825" y="513302"/>
                  <a:pt x="2756026" y="547293"/>
                  <a:pt x="2776616" y="595734"/>
                </a:cubicBezTo>
                <a:cubicBezTo>
                  <a:pt x="2783479" y="611881"/>
                  <a:pt x="2787274" y="629634"/>
                  <a:pt x="2787274" y="648269"/>
                </a:cubicBezTo>
                <a:lnTo>
                  <a:pt x="2787274" y="3617544"/>
                </a:lnTo>
                <a:cubicBezTo>
                  <a:pt x="2787274" y="3692084"/>
                  <a:pt x="2726551" y="3752511"/>
                  <a:pt x="2651646" y="3752511"/>
                </a:cubicBezTo>
                <a:lnTo>
                  <a:pt x="766494" y="3752511"/>
                </a:lnTo>
                <a:cubicBezTo>
                  <a:pt x="691589" y="3752511"/>
                  <a:pt x="630866" y="3692084"/>
                  <a:pt x="630866" y="3617544"/>
                </a:cubicBezTo>
                <a:lnTo>
                  <a:pt x="630866" y="3586256"/>
                </a:lnTo>
                <a:lnTo>
                  <a:pt x="2419048" y="3586256"/>
                </a:lnTo>
                <a:cubicBezTo>
                  <a:pt x="2500215" y="3586256"/>
                  <a:pt x="2566014" y="3522472"/>
                  <a:pt x="2566014" y="3443791"/>
                </a:cubicBezTo>
                <a:close/>
                <a:moveTo>
                  <a:pt x="803198" y="270725"/>
                </a:moveTo>
                <a:lnTo>
                  <a:pt x="803198" y="675626"/>
                </a:lnTo>
                <a:cubicBezTo>
                  <a:pt x="803198" y="750166"/>
                  <a:pt x="742475" y="810593"/>
                  <a:pt x="667570" y="810593"/>
                </a:cubicBezTo>
                <a:lnTo>
                  <a:pt x="274324" y="810593"/>
                </a:lnTo>
                <a:lnTo>
                  <a:pt x="274324" y="1058643"/>
                </a:lnTo>
                <a:lnTo>
                  <a:pt x="274324" y="1193610"/>
                </a:lnTo>
                <a:lnTo>
                  <a:pt x="274324" y="1431441"/>
                </a:lnTo>
                <a:lnTo>
                  <a:pt x="274324" y="1566408"/>
                </a:lnTo>
                <a:lnTo>
                  <a:pt x="274324" y="1816910"/>
                </a:lnTo>
                <a:lnTo>
                  <a:pt x="274324" y="1951877"/>
                </a:lnTo>
                <a:lnTo>
                  <a:pt x="274324" y="2202379"/>
                </a:lnTo>
                <a:lnTo>
                  <a:pt x="274324" y="2337346"/>
                </a:lnTo>
                <a:lnTo>
                  <a:pt x="274324" y="2970066"/>
                </a:lnTo>
                <a:lnTo>
                  <a:pt x="1888221" y="2970066"/>
                </a:lnTo>
                <a:lnTo>
                  <a:pt x="1888221" y="270725"/>
                </a:lnTo>
                <a:close/>
                <a:moveTo>
                  <a:pt x="2249738" y="257047"/>
                </a:moveTo>
                <a:lnTo>
                  <a:pt x="2337747" y="257047"/>
                </a:lnTo>
                <a:cubicBezTo>
                  <a:pt x="2393926" y="257047"/>
                  <a:pt x="2442127" y="291038"/>
                  <a:pt x="2462717" y="339479"/>
                </a:cubicBezTo>
                <a:cubicBezTo>
                  <a:pt x="2469580" y="355626"/>
                  <a:pt x="2473375" y="373379"/>
                  <a:pt x="2473375" y="392014"/>
                </a:cubicBezTo>
                <a:lnTo>
                  <a:pt x="2473375" y="3361289"/>
                </a:lnTo>
                <a:cubicBezTo>
                  <a:pt x="2473375" y="3435829"/>
                  <a:pt x="2412652" y="3496256"/>
                  <a:pt x="2337747" y="3496256"/>
                </a:cubicBezTo>
                <a:lnTo>
                  <a:pt x="452595" y="3496256"/>
                </a:lnTo>
                <a:cubicBezTo>
                  <a:pt x="377690" y="3496256"/>
                  <a:pt x="316967" y="3435829"/>
                  <a:pt x="316967" y="3361289"/>
                </a:cubicBezTo>
                <a:lnTo>
                  <a:pt x="316967" y="3330001"/>
                </a:lnTo>
                <a:lnTo>
                  <a:pt x="2102772" y="3330001"/>
                </a:lnTo>
                <a:cubicBezTo>
                  <a:pt x="2183939" y="3330001"/>
                  <a:pt x="2249738" y="3266217"/>
                  <a:pt x="2249738" y="3187536"/>
                </a:cubicBezTo>
                <a:close/>
                <a:moveTo>
                  <a:pt x="671387" y="0"/>
                </a:moveTo>
                <a:lnTo>
                  <a:pt x="675473" y="791"/>
                </a:lnTo>
                <a:lnTo>
                  <a:pt x="2023849" y="791"/>
                </a:lnTo>
                <a:cubicBezTo>
                  <a:pt x="2080028" y="791"/>
                  <a:pt x="2128229" y="34782"/>
                  <a:pt x="2148819" y="83223"/>
                </a:cubicBezTo>
                <a:cubicBezTo>
                  <a:pt x="2155682" y="99370"/>
                  <a:pt x="2159477" y="117123"/>
                  <a:pt x="2159477" y="135758"/>
                </a:cubicBezTo>
                <a:lnTo>
                  <a:pt x="2159477" y="3105033"/>
                </a:lnTo>
                <a:cubicBezTo>
                  <a:pt x="2159477" y="3179573"/>
                  <a:pt x="2098754" y="3240000"/>
                  <a:pt x="2023849" y="3240000"/>
                </a:cubicBezTo>
                <a:lnTo>
                  <a:pt x="138697" y="3240000"/>
                </a:lnTo>
                <a:cubicBezTo>
                  <a:pt x="63792" y="3240000"/>
                  <a:pt x="3069" y="3179573"/>
                  <a:pt x="3069" y="3105033"/>
                </a:cubicBezTo>
                <a:lnTo>
                  <a:pt x="3069" y="683811"/>
                </a:lnTo>
                <a:lnTo>
                  <a:pt x="0" y="668115"/>
                </a:lnTo>
                <a:cubicBezTo>
                  <a:pt x="0" y="633574"/>
                  <a:pt x="13242" y="599033"/>
                  <a:pt x="39724" y="572680"/>
                </a:cubicBezTo>
                <a:lnTo>
                  <a:pt x="565413" y="49552"/>
                </a:lnTo>
                <a:lnTo>
                  <a:pt x="571667" y="40322"/>
                </a:lnTo>
                <a:cubicBezTo>
                  <a:pt x="583939" y="28110"/>
                  <a:pt x="598551" y="18227"/>
                  <a:pt x="614778" y="11397"/>
                </a:cubicBezTo>
                <a:lnTo>
                  <a:pt x="619491" y="10451"/>
                </a:lnTo>
                <a:lnTo>
                  <a:pt x="620350" y="9883"/>
                </a:lnTo>
                <a:cubicBezTo>
                  <a:pt x="636677" y="3294"/>
                  <a:pt x="654032" y="0"/>
                  <a:pt x="671387" y="0"/>
                </a:cubicBezTo>
                <a:close/>
              </a:path>
            </a:pathLst>
          </a:custGeom>
          <a:solidFill>
            <a:srgbClr val="0170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3080021" y="1729702"/>
            <a:ext cx="1826141" cy="46037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上电前</a:t>
            </a: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2070795" y="2353885"/>
            <a:ext cx="2851935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prstClr val="black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①</a:t>
            </a:r>
            <a:r>
              <a:rPr lang="zh-CN" altLang="en-US" dirty="0">
                <a:solidFill>
                  <a:prstClr val="black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上电前，利用万用表依次检查电路焊接是否存在短路和断路现象，确保导通，以避免虚焊漏焊错焊。经检查，发现最右侧二极管焊点因吸锡后分离，故重新焊接并检查，确认各个器件焊接正常。</a:t>
            </a:r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13" name="任意多边形 5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7638887" y="1665320"/>
            <a:ext cx="414934" cy="558626"/>
          </a:xfrm>
          <a:custGeom>
            <a:avLst/>
            <a:gdLst>
              <a:gd name="connsiteX0" fmla="*/ 409952 w 2787274"/>
              <a:gd name="connsiteY0" fmla="*/ 2202379 h 3752511"/>
              <a:gd name="connsiteX1" fmla="*/ 1752594 w 2787274"/>
              <a:gd name="connsiteY1" fmla="*/ 2202379 h 3752511"/>
              <a:gd name="connsiteX2" fmla="*/ 1752594 w 2787274"/>
              <a:gd name="connsiteY2" fmla="*/ 2337346 h 3752511"/>
              <a:gd name="connsiteX3" fmla="*/ 409952 w 2787274"/>
              <a:gd name="connsiteY3" fmla="*/ 2337346 h 3752511"/>
              <a:gd name="connsiteX4" fmla="*/ 409952 w 2787274"/>
              <a:gd name="connsiteY4" fmla="*/ 1816910 h 3752511"/>
              <a:gd name="connsiteX5" fmla="*/ 1752594 w 2787274"/>
              <a:gd name="connsiteY5" fmla="*/ 1816910 h 3752511"/>
              <a:gd name="connsiteX6" fmla="*/ 1752594 w 2787274"/>
              <a:gd name="connsiteY6" fmla="*/ 1951877 h 3752511"/>
              <a:gd name="connsiteX7" fmla="*/ 409952 w 2787274"/>
              <a:gd name="connsiteY7" fmla="*/ 1951877 h 3752511"/>
              <a:gd name="connsiteX8" fmla="*/ 409952 w 2787274"/>
              <a:gd name="connsiteY8" fmla="*/ 1431441 h 3752511"/>
              <a:gd name="connsiteX9" fmla="*/ 1752594 w 2787274"/>
              <a:gd name="connsiteY9" fmla="*/ 1431441 h 3752511"/>
              <a:gd name="connsiteX10" fmla="*/ 1752594 w 2787274"/>
              <a:gd name="connsiteY10" fmla="*/ 1566408 h 3752511"/>
              <a:gd name="connsiteX11" fmla="*/ 409952 w 2787274"/>
              <a:gd name="connsiteY11" fmla="*/ 1566408 h 3752511"/>
              <a:gd name="connsiteX12" fmla="*/ 409952 w 2787274"/>
              <a:gd name="connsiteY12" fmla="*/ 1058643 h 3752511"/>
              <a:gd name="connsiteX13" fmla="*/ 1752594 w 2787274"/>
              <a:gd name="connsiteY13" fmla="*/ 1058643 h 3752511"/>
              <a:gd name="connsiteX14" fmla="*/ 1752594 w 2787274"/>
              <a:gd name="connsiteY14" fmla="*/ 1193610 h 3752511"/>
              <a:gd name="connsiteX15" fmla="*/ 409952 w 2787274"/>
              <a:gd name="connsiteY15" fmla="*/ 1193610 h 3752511"/>
              <a:gd name="connsiteX16" fmla="*/ 2566014 w 2787274"/>
              <a:gd name="connsiteY16" fmla="*/ 513302 h 3752511"/>
              <a:gd name="connsiteX17" fmla="*/ 2651646 w 2787274"/>
              <a:gd name="connsiteY17" fmla="*/ 513302 h 3752511"/>
              <a:gd name="connsiteX18" fmla="*/ 2776616 w 2787274"/>
              <a:gd name="connsiteY18" fmla="*/ 595734 h 3752511"/>
              <a:gd name="connsiteX19" fmla="*/ 2787274 w 2787274"/>
              <a:gd name="connsiteY19" fmla="*/ 648269 h 3752511"/>
              <a:gd name="connsiteX20" fmla="*/ 2787274 w 2787274"/>
              <a:gd name="connsiteY20" fmla="*/ 3617544 h 3752511"/>
              <a:gd name="connsiteX21" fmla="*/ 2651646 w 2787274"/>
              <a:gd name="connsiteY21" fmla="*/ 3752511 h 3752511"/>
              <a:gd name="connsiteX22" fmla="*/ 766494 w 2787274"/>
              <a:gd name="connsiteY22" fmla="*/ 3752511 h 3752511"/>
              <a:gd name="connsiteX23" fmla="*/ 630866 w 2787274"/>
              <a:gd name="connsiteY23" fmla="*/ 3617544 h 3752511"/>
              <a:gd name="connsiteX24" fmla="*/ 630866 w 2787274"/>
              <a:gd name="connsiteY24" fmla="*/ 3586256 h 3752511"/>
              <a:gd name="connsiteX25" fmla="*/ 2419048 w 2787274"/>
              <a:gd name="connsiteY25" fmla="*/ 3586256 h 3752511"/>
              <a:gd name="connsiteX26" fmla="*/ 2566014 w 2787274"/>
              <a:gd name="connsiteY26" fmla="*/ 3443791 h 3752511"/>
              <a:gd name="connsiteX27" fmla="*/ 803198 w 2787274"/>
              <a:gd name="connsiteY27" fmla="*/ 270725 h 3752511"/>
              <a:gd name="connsiteX28" fmla="*/ 803198 w 2787274"/>
              <a:gd name="connsiteY28" fmla="*/ 675626 h 3752511"/>
              <a:gd name="connsiteX29" fmla="*/ 667570 w 2787274"/>
              <a:gd name="connsiteY29" fmla="*/ 810593 h 3752511"/>
              <a:gd name="connsiteX30" fmla="*/ 274324 w 2787274"/>
              <a:gd name="connsiteY30" fmla="*/ 810593 h 3752511"/>
              <a:gd name="connsiteX31" fmla="*/ 274324 w 2787274"/>
              <a:gd name="connsiteY31" fmla="*/ 1058643 h 3752511"/>
              <a:gd name="connsiteX32" fmla="*/ 274324 w 2787274"/>
              <a:gd name="connsiteY32" fmla="*/ 1193610 h 3752511"/>
              <a:gd name="connsiteX33" fmla="*/ 274324 w 2787274"/>
              <a:gd name="connsiteY33" fmla="*/ 1431441 h 3752511"/>
              <a:gd name="connsiteX34" fmla="*/ 274324 w 2787274"/>
              <a:gd name="connsiteY34" fmla="*/ 1566408 h 3752511"/>
              <a:gd name="connsiteX35" fmla="*/ 274324 w 2787274"/>
              <a:gd name="connsiteY35" fmla="*/ 1816910 h 3752511"/>
              <a:gd name="connsiteX36" fmla="*/ 274324 w 2787274"/>
              <a:gd name="connsiteY36" fmla="*/ 1951877 h 3752511"/>
              <a:gd name="connsiteX37" fmla="*/ 274324 w 2787274"/>
              <a:gd name="connsiteY37" fmla="*/ 2202379 h 3752511"/>
              <a:gd name="connsiteX38" fmla="*/ 274324 w 2787274"/>
              <a:gd name="connsiteY38" fmla="*/ 2337346 h 3752511"/>
              <a:gd name="connsiteX39" fmla="*/ 274324 w 2787274"/>
              <a:gd name="connsiteY39" fmla="*/ 2970066 h 3752511"/>
              <a:gd name="connsiteX40" fmla="*/ 1888221 w 2787274"/>
              <a:gd name="connsiteY40" fmla="*/ 2970066 h 3752511"/>
              <a:gd name="connsiteX41" fmla="*/ 1888221 w 2787274"/>
              <a:gd name="connsiteY41" fmla="*/ 270725 h 3752511"/>
              <a:gd name="connsiteX42" fmla="*/ 2249738 w 2787274"/>
              <a:gd name="connsiteY42" fmla="*/ 257047 h 3752511"/>
              <a:gd name="connsiteX43" fmla="*/ 2337747 w 2787274"/>
              <a:gd name="connsiteY43" fmla="*/ 257047 h 3752511"/>
              <a:gd name="connsiteX44" fmla="*/ 2462717 w 2787274"/>
              <a:gd name="connsiteY44" fmla="*/ 339479 h 3752511"/>
              <a:gd name="connsiteX45" fmla="*/ 2473375 w 2787274"/>
              <a:gd name="connsiteY45" fmla="*/ 392014 h 3752511"/>
              <a:gd name="connsiteX46" fmla="*/ 2473375 w 2787274"/>
              <a:gd name="connsiteY46" fmla="*/ 3361289 h 3752511"/>
              <a:gd name="connsiteX47" fmla="*/ 2337747 w 2787274"/>
              <a:gd name="connsiteY47" fmla="*/ 3496256 h 3752511"/>
              <a:gd name="connsiteX48" fmla="*/ 452595 w 2787274"/>
              <a:gd name="connsiteY48" fmla="*/ 3496256 h 3752511"/>
              <a:gd name="connsiteX49" fmla="*/ 316967 w 2787274"/>
              <a:gd name="connsiteY49" fmla="*/ 3361289 h 3752511"/>
              <a:gd name="connsiteX50" fmla="*/ 316967 w 2787274"/>
              <a:gd name="connsiteY50" fmla="*/ 3330001 h 3752511"/>
              <a:gd name="connsiteX51" fmla="*/ 2102772 w 2787274"/>
              <a:gd name="connsiteY51" fmla="*/ 3330001 h 3752511"/>
              <a:gd name="connsiteX52" fmla="*/ 2249738 w 2787274"/>
              <a:gd name="connsiteY52" fmla="*/ 3187536 h 3752511"/>
              <a:gd name="connsiteX53" fmla="*/ 671387 w 2787274"/>
              <a:gd name="connsiteY53" fmla="*/ 0 h 3752511"/>
              <a:gd name="connsiteX54" fmla="*/ 675473 w 2787274"/>
              <a:gd name="connsiteY54" fmla="*/ 791 h 3752511"/>
              <a:gd name="connsiteX55" fmla="*/ 2023849 w 2787274"/>
              <a:gd name="connsiteY55" fmla="*/ 791 h 3752511"/>
              <a:gd name="connsiteX56" fmla="*/ 2148819 w 2787274"/>
              <a:gd name="connsiteY56" fmla="*/ 83223 h 3752511"/>
              <a:gd name="connsiteX57" fmla="*/ 2159477 w 2787274"/>
              <a:gd name="connsiteY57" fmla="*/ 135758 h 3752511"/>
              <a:gd name="connsiteX58" fmla="*/ 2159477 w 2787274"/>
              <a:gd name="connsiteY58" fmla="*/ 3105033 h 3752511"/>
              <a:gd name="connsiteX59" fmla="*/ 2023849 w 2787274"/>
              <a:gd name="connsiteY59" fmla="*/ 3240000 h 3752511"/>
              <a:gd name="connsiteX60" fmla="*/ 138697 w 2787274"/>
              <a:gd name="connsiteY60" fmla="*/ 3240000 h 3752511"/>
              <a:gd name="connsiteX61" fmla="*/ 3069 w 2787274"/>
              <a:gd name="connsiteY61" fmla="*/ 3105033 h 3752511"/>
              <a:gd name="connsiteX62" fmla="*/ 3069 w 2787274"/>
              <a:gd name="connsiteY62" fmla="*/ 683811 h 3752511"/>
              <a:gd name="connsiteX63" fmla="*/ 0 w 2787274"/>
              <a:gd name="connsiteY63" fmla="*/ 668115 h 3752511"/>
              <a:gd name="connsiteX64" fmla="*/ 39724 w 2787274"/>
              <a:gd name="connsiteY64" fmla="*/ 572680 h 3752511"/>
              <a:gd name="connsiteX65" fmla="*/ 565413 w 2787274"/>
              <a:gd name="connsiteY65" fmla="*/ 49552 h 3752511"/>
              <a:gd name="connsiteX66" fmla="*/ 571667 w 2787274"/>
              <a:gd name="connsiteY66" fmla="*/ 40322 h 3752511"/>
              <a:gd name="connsiteX67" fmla="*/ 614778 w 2787274"/>
              <a:gd name="connsiteY67" fmla="*/ 11397 h 3752511"/>
              <a:gd name="connsiteX68" fmla="*/ 619491 w 2787274"/>
              <a:gd name="connsiteY68" fmla="*/ 10451 h 3752511"/>
              <a:gd name="connsiteX69" fmla="*/ 620350 w 2787274"/>
              <a:gd name="connsiteY69" fmla="*/ 9883 h 3752511"/>
              <a:gd name="connsiteX70" fmla="*/ 671387 w 2787274"/>
              <a:gd name="connsiteY70" fmla="*/ 0 h 375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787274" h="3752511">
                <a:moveTo>
                  <a:pt x="409952" y="2202379"/>
                </a:moveTo>
                <a:lnTo>
                  <a:pt x="1752594" y="2202379"/>
                </a:lnTo>
                <a:lnTo>
                  <a:pt x="1752594" y="2337346"/>
                </a:lnTo>
                <a:lnTo>
                  <a:pt x="409952" y="2337346"/>
                </a:lnTo>
                <a:close/>
                <a:moveTo>
                  <a:pt x="409952" y="1816910"/>
                </a:moveTo>
                <a:lnTo>
                  <a:pt x="1752594" y="1816910"/>
                </a:lnTo>
                <a:lnTo>
                  <a:pt x="1752594" y="1951877"/>
                </a:lnTo>
                <a:lnTo>
                  <a:pt x="409952" y="1951877"/>
                </a:lnTo>
                <a:close/>
                <a:moveTo>
                  <a:pt x="409952" y="1431441"/>
                </a:moveTo>
                <a:lnTo>
                  <a:pt x="1752594" y="1431441"/>
                </a:lnTo>
                <a:lnTo>
                  <a:pt x="1752594" y="1566408"/>
                </a:lnTo>
                <a:lnTo>
                  <a:pt x="409952" y="1566408"/>
                </a:lnTo>
                <a:close/>
                <a:moveTo>
                  <a:pt x="409952" y="1058643"/>
                </a:moveTo>
                <a:lnTo>
                  <a:pt x="1752594" y="1058643"/>
                </a:lnTo>
                <a:lnTo>
                  <a:pt x="1752594" y="1193610"/>
                </a:lnTo>
                <a:lnTo>
                  <a:pt x="409952" y="1193610"/>
                </a:lnTo>
                <a:close/>
                <a:moveTo>
                  <a:pt x="2566014" y="513302"/>
                </a:moveTo>
                <a:lnTo>
                  <a:pt x="2651646" y="513302"/>
                </a:lnTo>
                <a:cubicBezTo>
                  <a:pt x="2707825" y="513302"/>
                  <a:pt x="2756026" y="547293"/>
                  <a:pt x="2776616" y="595734"/>
                </a:cubicBezTo>
                <a:cubicBezTo>
                  <a:pt x="2783479" y="611881"/>
                  <a:pt x="2787274" y="629634"/>
                  <a:pt x="2787274" y="648269"/>
                </a:cubicBezTo>
                <a:lnTo>
                  <a:pt x="2787274" y="3617544"/>
                </a:lnTo>
                <a:cubicBezTo>
                  <a:pt x="2787274" y="3692084"/>
                  <a:pt x="2726551" y="3752511"/>
                  <a:pt x="2651646" y="3752511"/>
                </a:cubicBezTo>
                <a:lnTo>
                  <a:pt x="766494" y="3752511"/>
                </a:lnTo>
                <a:cubicBezTo>
                  <a:pt x="691589" y="3752511"/>
                  <a:pt x="630866" y="3692084"/>
                  <a:pt x="630866" y="3617544"/>
                </a:cubicBezTo>
                <a:lnTo>
                  <a:pt x="630866" y="3586256"/>
                </a:lnTo>
                <a:lnTo>
                  <a:pt x="2419048" y="3586256"/>
                </a:lnTo>
                <a:cubicBezTo>
                  <a:pt x="2500215" y="3586256"/>
                  <a:pt x="2566014" y="3522472"/>
                  <a:pt x="2566014" y="3443791"/>
                </a:cubicBezTo>
                <a:close/>
                <a:moveTo>
                  <a:pt x="803198" y="270725"/>
                </a:moveTo>
                <a:lnTo>
                  <a:pt x="803198" y="675626"/>
                </a:lnTo>
                <a:cubicBezTo>
                  <a:pt x="803198" y="750166"/>
                  <a:pt x="742475" y="810593"/>
                  <a:pt x="667570" y="810593"/>
                </a:cubicBezTo>
                <a:lnTo>
                  <a:pt x="274324" y="810593"/>
                </a:lnTo>
                <a:lnTo>
                  <a:pt x="274324" y="1058643"/>
                </a:lnTo>
                <a:lnTo>
                  <a:pt x="274324" y="1193610"/>
                </a:lnTo>
                <a:lnTo>
                  <a:pt x="274324" y="1431441"/>
                </a:lnTo>
                <a:lnTo>
                  <a:pt x="274324" y="1566408"/>
                </a:lnTo>
                <a:lnTo>
                  <a:pt x="274324" y="1816910"/>
                </a:lnTo>
                <a:lnTo>
                  <a:pt x="274324" y="1951877"/>
                </a:lnTo>
                <a:lnTo>
                  <a:pt x="274324" y="2202379"/>
                </a:lnTo>
                <a:lnTo>
                  <a:pt x="274324" y="2337346"/>
                </a:lnTo>
                <a:lnTo>
                  <a:pt x="274324" y="2970066"/>
                </a:lnTo>
                <a:lnTo>
                  <a:pt x="1888221" y="2970066"/>
                </a:lnTo>
                <a:lnTo>
                  <a:pt x="1888221" y="270725"/>
                </a:lnTo>
                <a:close/>
                <a:moveTo>
                  <a:pt x="2249738" y="257047"/>
                </a:moveTo>
                <a:lnTo>
                  <a:pt x="2337747" y="257047"/>
                </a:lnTo>
                <a:cubicBezTo>
                  <a:pt x="2393926" y="257047"/>
                  <a:pt x="2442127" y="291038"/>
                  <a:pt x="2462717" y="339479"/>
                </a:cubicBezTo>
                <a:cubicBezTo>
                  <a:pt x="2469580" y="355626"/>
                  <a:pt x="2473375" y="373379"/>
                  <a:pt x="2473375" y="392014"/>
                </a:cubicBezTo>
                <a:lnTo>
                  <a:pt x="2473375" y="3361289"/>
                </a:lnTo>
                <a:cubicBezTo>
                  <a:pt x="2473375" y="3435829"/>
                  <a:pt x="2412652" y="3496256"/>
                  <a:pt x="2337747" y="3496256"/>
                </a:cubicBezTo>
                <a:lnTo>
                  <a:pt x="452595" y="3496256"/>
                </a:lnTo>
                <a:cubicBezTo>
                  <a:pt x="377690" y="3496256"/>
                  <a:pt x="316967" y="3435829"/>
                  <a:pt x="316967" y="3361289"/>
                </a:cubicBezTo>
                <a:lnTo>
                  <a:pt x="316967" y="3330001"/>
                </a:lnTo>
                <a:lnTo>
                  <a:pt x="2102772" y="3330001"/>
                </a:lnTo>
                <a:cubicBezTo>
                  <a:pt x="2183939" y="3330001"/>
                  <a:pt x="2249738" y="3266217"/>
                  <a:pt x="2249738" y="3187536"/>
                </a:cubicBezTo>
                <a:close/>
                <a:moveTo>
                  <a:pt x="671387" y="0"/>
                </a:moveTo>
                <a:lnTo>
                  <a:pt x="675473" y="791"/>
                </a:lnTo>
                <a:lnTo>
                  <a:pt x="2023849" y="791"/>
                </a:lnTo>
                <a:cubicBezTo>
                  <a:pt x="2080028" y="791"/>
                  <a:pt x="2128229" y="34782"/>
                  <a:pt x="2148819" y="83223"/>
                </a:cubicBezTo>
                <a:cubicBezTo>
                  <a:pt x="2155682" y="99370"/>
                  <a:pt x="2159477" y="117123"/>
                  <a:pt x="2159477" y="135758"/>
                </a:cubicBezTo>
                <a:lnTo>
                  <a:pt x="2159477" y="3105033"/>
                </a:lnTo>
                <a:cubicBezTo>
                  <a:pt x="2159477" y="3179573"/>
                  <a:pt x="2098754" y="3240000"/>
                  <a:pt x="2023849" y="3240000"/>
                </a:cubicBezTo>
                <a:lnTo>
                  <a:pt x="138697" y="3240000"/>
                </a:lnTo>
                <a:cubicBezTo>
                  <a:pt x="63792" y="3240000"/>
                  <a:pt x="3069" y="3179573"/>
                  <a:pt x="3069" y="3105033"/>
                </a:cubicBezTo>
                <a:lnTo>
                  <a:pt x="3069" y="683811"/>
                </a:lnTo>
                <a:lnTo>
                  <a:pt x="0" y="668115"/>
                </a:lnTo>
                <a:cubicBezTo>
                  <a:pt x="0" y="633574"/>
                  <a:pt x="13242" y="599033"/>
                  <a:pt x="39724" y="572680"/>
                </a:cubicBezTo>
                <a:lnTo>
                  <a:pt x="565413" y="49552"/>
                </a:lnTo>
                <a:lnTo>
                  <a:pt x="571667" y="40322"/>
                </a:lnTo>
                <a:cubicBezTo>
                  <a:pt x="583939" y="28110"/>
                  <a:pt x="598551" y="18227"/>
                  <a:pt x="614778" y="11397"/>
                </a:cubicBezTo>
                <a:lnTo>
                  <a:pt x="619491" y="10451"/>
                </a:lnTo>
                <a:lnTo>
                  <a:pt x="620350" y="9883"/>
                </a:lnTo>
                <a:cubicBezTo>
                  <a:pt x="636677" y="3294"/>
                  <a:pt x="654032" y="0"/>
                  <a:pt x="671387" y="0"/>
                </a:cubicBezTo>
                <a:close/>
              </a:path>
            </a:pathLst>
          </a:custGeom>
          <a:solidFill>
            <a:srgbClr val="0170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8053820" y="1721058"/>
            <a:ext cx="1577483" cy="46037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上电后</a:t>
            </a: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7044595" y="2353885"/>
            <a:ext cx="2851935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②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上电后，观察各个模块是否有发热现象。发现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CD4017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芯片异常发热，经检查确定为安装方向错误，即缺口方向与底板标记相反，故调整，并测试各个单元电路的工作电压，均为正常的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3V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。</a:t>
            </a:r>
            <a:endParaRPr lang="zh-CN" altLang="en-US" dirty="0">
              <a:solidFill>
                <a:prstClr val="black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p:transition spd="slow">
    <p:cover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en-US" altLang="zh-CN" sz="2400" b="0" dirty="0">
                  <a:solidFill>
                    <a:srgbClr val="0170B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2.</a:t>
              </a:r>
              <a:r>
                <a:rPr lang="zh-CN" altLang="en-US" sz="2400" b="0" dirty="0">
                  <a:solidFill>
                    <a:srgbClr val="0170B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功能检查</a:t>
              </a: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755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endPara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任意多边形 22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>
            <p:custDataLst>
              <p:tags r:id="rId1"/>
            </p:custDataLst>
          </p:nvPr>
        </p:nvSpPr>
        <p:spPr>
          <a:xfrm>
            <a:off x="1730056" y="2059224"/>
            <a:ext cx="9479973" cy="907101"/>
          </a:xfrm>
          <a:custGeom>
            <a:avLst/>
            <a:gdLst>
              <a:gd name="connsiteX0" fmla="*/ 0 w 5475833"/>
              <a:gd name="connsiteY0" fmla="*/ 0 h 812800"/>
              <a:gd name="connsiteX1" fmla="*/ 5475833 w 5475833"/>
              <a:gd name="connsiteY1" fmla="*/ 0 h 812800"/>
              <a:gd name="connsiteX2" fmla="*/ 5475833 w 5475833"/>
              <a:gd name="connsiteY2" fmla="*/ 812800 h 812800"/>
              <a:gd name="connsiteX3" fmla="*/ 0 w 5475833"/>
              <a:gd name="connsiteY3" fmla="*/ 812800 h 812800"/>
              <a:gd name="connsiteX4" fmla="*/ 0 w 5475833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833" h="812800">
                <a:moveTo>
                  <a:pt x="0" y="0"/>
                </a:moveTo>
                <a:lnTo>
                  <a:pt x="5475833" y="0"/>
                </a:lnTo>
                <a:lnTo>
                  <a:pt x="5475833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53" name="任意多边形 2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>
            <p:custDataLst>
              <p:tags r:id="rId2"/>
            </p:custDataLst>
          </p:nvPr>
        </p:nvSpPr>
        <p:spPr>
          <a:xfrm>
            <a:off x="2059786" y="3419876"/>
            <a:ext cx="9150243" cy="907101"/>
          </a:xfrm>
          <a:custGeom>
            <a:avLst/>
            <a:gdLst>
              <a:gd name="connsiteX0" fmla="*/ 0 w 5180380"/>
              <a:gd name="connsiteY0" fmla="*/ 0 h 812800"/>
              <a:gd name="connsiteX1" fmla="*/ 5180380 w 5180380"/>
              <a:gd name="connsiteY1" fmla="*/ 0 h 812800"/>
              <a:gd name="connsiteX2" fmla="*/ 5180380 w 5180380"/>
              <a:gd name="connsiteY2" fmla="*/ 812800 h 812800"/>
              <a:gd name="connsiteX3" fmla="*/ 0 w 5180380"/>
              <a:gd name="connsiteY3" fmla="*/ 812800 h 812800"/>
              <a:gd name="connsiteX4" fmla="*/ 0 w 518038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0380" h="812800">
                <a:moveTo>
                  <a:pt x="0" y="0"/>
                </a:moveTo>
                <a:lnTo>
                  <a:pt x="5180380" y="0"/>
                </a:lnTo>
                <a:lnTo>
                  <a:pt x="51803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55" name="任意多边形 28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>
            <p:custDataLst>
              <p:tags r:id="rId3"/>
            </p:custDataLst>
          </p:nvPr>
        </p:nvSpPr>
        <p:spPr>
          <a:xfrm>
            <a:off x="1730056" y="4780528"/>
            <a:ext cx="9479973" cy="907101"/>
          </a:xfrm>
          <a:custGeom>
            <a:avLst/>
            <a:gdLst>
              <a:gd name="connsiteX0" fmla="*/ 0 w 5475833"/>
              <a:gd name="connsiteY0" fmla="*/ 0 h 812800"/>
              <a:gd name="connsiteX1" fmla="*/ 5475833 w 5475833"/>
              <a:gd name="connsiteY1" fmla="*/ 0 h 812800"/>
              <a:gd name="connsiteX2" fmla="*/ 5475833 w 5475833"/>
              <a:gd name="connsiteY2" fmla="*/ 812800 h 812800"/>
              <a:gd name="connsiteX3" fmla="*/ 0 w 5475833"/>
              <a:gd name="connsiteY3" fmla="*/ 812800 h 812800"/>
              <a:gd name="connsiteX4" fmla="*/ 0 w 5475833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833" h="812800">
                <a:moveTo>
                  <a:pt x="0" y="0"/>
                </a:moveTo>
                <a:lnTo>
                  <a:pt x="5475833" y="0"/>
                </a:lnTo>
                <a:lnTo>
                  <a:pt x="5475833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>
            <p:custDataLst>
              <p:tags r:id="rId4"/>
            </p:custDataLst>
          </p:nvPr>
        </p:nvSpPr>
        <p:spPr>
          <a:xfrm>
            <a:off x="2626727" y="2169388"/>
            <a:ext cx="8467993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通电后，在安静环境下的声音约</a:t>
            </a:r>
            <a:r>
              <a:rPr lang="en-US" altLang="zh-CN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35dB</a:t>
            </a:r>
            <a:r>
              <a:rPr lang="zh-CN" altLang="en-US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，此时</a:t>
            </a:r>
            <a:r>
              <a:rPr lang="en-US" altLang="zh-CN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MIC</a:t>
            </a:r>
            <a:r>
              <a:rPr lang="zh-CN" altLang="en-US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输出端直流偏置电压应约为</a:t>
            </a:r>
            <a:r>
              <a:rPr lang="en-US" altLang="zh-CN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1.52V</a:t>
            </a:r>
            <a:r>
              <a:rPr lang="zh-CN" altLang="en-US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。若基本符合这个输出电压，然后在距</a:t>
            </a:r>
            <a:r>
              <a:rPr lang="en-US" altLang="zh-CN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MIC</a:t>
            </a:r>
            <a:r>
              <a:rPr lang="zh-CN" altLang="en-US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约</a:t>
            </a:r>
            <a:r>
              <a:rPr lang="en-US" altLang="zh-CN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15cm</a:t>
            </a:r>
            <a:r>
              <a:rPr lang="zh-CN" altLang="en-US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处拍手。若在拍手过程中示波器观察到三极管集电极有规律的波动信号，并用万用表观察其基集电压有规律的变化，则证明</a:t>
            </a:r>
            <a:r>
              <a:rPr lang="en-US" altLang="zh-CN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MIC</a:t>
            </a:r>
            <a:r>
              <a:rPr lang="zh-CN" altLang="en-US" sz="14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放大电路可以正常工作。</a:t>
            </a:r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>
            <p:custDataLst>
              <p:tags r:id="rId5"/>
            </p:custDataLst>
          </p:nvPr>
        </p:nvSpPr>
        <p:spPr>
          <a:xfrm>
            <a:off x="2626727" y="4944882"/>
            <a:ext cx="852218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800"/>
              </a:spcBef>
            </a:pPr>
            <a:r>
              <a:rPr lang="zh-CN" altLang="en-US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使用手机播放连续音乐，示波器检测到不规律脉冲波，流水灯速度随着声音频率变化而变化，故其能正常工作。</a:t>
            </a:r>
          </a:p>
        </p:txBody>
      </p:sp>
      <p:grpSp>
        <p:nvGrpSpPr>
          <p:cNvPr id="2" name="组合 1"/>
          <p:cNvGrpSpPr/>
          <p:nvPr>
            <p:custDataLst>
              <p:tags r:id="rId6"/>
            </p:custDataLst>
          </p:nvPr>
        </p:nvGrpSpPr>
        <p:grpSpPr>
          <a:xfrm>
            <a:off x="-2111843" y="1758798"/>
            <a:ext cx="4738570" cy="4229255"/>
            <a:chOff x="-2111843" y="1758798"/>
            <a:chExt cx="4738570" cy="4229255"/>
          </a:xfrm>
        </p:grpSpPr>
        <p:sp>
          <p:nvSpPr>
            <p:cNvPr id="50" name="弧形 49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-2111843" y="1758798"/>
              <a:ext cx="4229255" cy="4229255"/>
            </a:xfrm>
            <a:prstGeom prst="arc">
              <a:avLst>
                <a:gd name="adj1" fmla="val 17401462"/>
                <a:gd name="adj2" fmla="val 4264955"/>
              </a:avLst>
            </a:prstGeom>
            <a:ln w="254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7F7F7F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52" name="椭圆 51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>
              <p:custDataLst>
                <p:tags r:id="rId8"/>
              </p:custDataLst>
            </p:nvPr>
          </p:nvSpPr>
          <p:spPr>
            <a:xfrm>
              <a:off x="1163120" y="1945838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2400">
                <a:solidFill>
                  <a:srgbClr val="7F7F7F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54" name="椭圆 53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>
              <p:custDataLst>
                <p:tags r:id="rId9"/>
              </p:custDataLst>
            </p:nvPr>
          </p:nvSpPr>
          <p:spPr>
            <a:xfrm>
              <a:off x="1492851" y="3306488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56" name="椭圆 55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>
              <p:custDataLst>
                <p:tags r:id="rId10"/>
              </p:custDataLst>
            </p:nvPr>
          </p:nvSpPr>
          <p:spPr>
            <a:xfrm>
              <a:off x="1163120" y="4667140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60" name="矩形 59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>
              <p:custDataLst>
                <p:tags r:id="rId11"/>
              </p:custDataLst>
            </p:nvPr>
          </p:nvSpPr>
          <p:spPr>
            <a:xfrm>
              <a:off x="1418114" y="2161629"/>
              <a:ext cx="623889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 dirty="0">
                  <a:solidFill>
                    <a:srgbClr val="7F7F7F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01</a:t>
              </a:r>
              <a:endParaRPr lang="zh-CN" altLang="en-US" sz="3735" b="1" dirty="0">
                <a:solidFill>
                  <a:srgbClr val="7F7F7F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61" name="矩形 60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>
              <p:custDataLst>
                <p:tags r:id="rId12"/>
              </p:custDataLst>
            </p:nvPr>
          </p:nvSpPr>
          <p:spPr>
            <a:xfrm>
              <a:off x="1706969" y="3522280"/>
              <a:ext cx="705642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>
                  <a:solidFill>
                    <a:srgbClr val="7F7F7F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02</a:t>
              </a:r>
              <a:endParaRPr lang="zh-CN" altLang="en-US" sz="3735" b="1">
                <a:solidFill>
                  <a:srgbClr val="7F7F7F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62" name="矩形 61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>
              <p:custDataLst>
                <p:tags r:id="rId13"/>
              </p:custDataLst>
            </p:nvPr>
          </p:nvSpPr>
          <p:spPr>
            <a:xfrm>
              <a:off x="1379642" y="4893915"/>
              <a:ext cx="700834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>
                  <a:solidFill>
                    <a:srgbClr val="7F7F7F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03</a:t>
              </a:r>
              <a:endParaRPr lang="zh-CN" altLang="en-US" sz="3735" b="1">
                <a:solidFill>
                  <a:srgbClr val="7F7F7F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sp>
        <p:nvSpPr>
          <p:cNvPr id="12" name="矩形 11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>
            <p:custDataLst>
              <p:tags r:id="rId7"/>
            </p:custDataLst>
          </p:nvPr>
        </p:nvSpPr>
        <p:spPr>
          <a:xfrm>
            <a:off x="2641967" y="3556228"/>
            <a:ext cx="8467993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800"/>
              </a:spcBef>
            </a:pPr>
            <a:r>
              <a:rPr lang="zh-CN" altLang="en-US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使用节拍器按</a:t>
            </a:r>
            <a:r>
              <a:rPr lang="en-US" altLang="zh-CN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65BPM</a:t>
            </a:r>
            <a:r>
              <a:rPr lang="zh-CN" altLang="en-US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的速度发声，每个节拍示波器检测到一个脉冲信号，观察到流水</a:t>
            </a:r>
            <a:r>
              <a:rPr lang="en-US" altLang="zh-CN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LED</a:t>
            </a:r>
            <a:r>
              <a:rPr lang="zh-CN" altLang="en-US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灯右移一位。</a:t>
            </a:r>
          </a:p>
        </p:txBody>
      </p:sp>
    </p:spTree>
  </p:cSld>
  <p:clrMapOvr>
    <a:masterClrMapping/>
  </p:clrMapOvr>
  <p:transition spd="slow">
    <p:cover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en-US" altLang="zh-CN" sz="2400" b="0" dirty="0">
                  <a:solidFill>
                    <a:srgbClr val="0170B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3.</a:t>
              </a:r>
              <a:r>
                <a:rPr lang="zh-CN" altLang="en-US" sz="2400" b="0" dirty="0">
                  <a:solidFill>
                    <a:srgbClr val="0170BD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rPr>
                <a:t>测试</a:t>
              </a: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755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endPara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>
              <p:custDataLst>
                <p:tags r:id="rId14"/>
              </p:custDataLst>
            </p:nvPr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2"/>
            </p:custDataLst>
          </p:nvPr>
        </p:nvGrpSpPr>
        <p:grpSpPr>
          <a:xfrm>
            <a:off x="1705610" y="1261745"/>
            <a:ext cx="3601085" cy="4900295"/>
            <a:chOff x="515938" y="1892469"/>
            <a:chExt cx="2519464" cy="3793787"/>
          </a:xfrm>
        </p:grpSpPr>
        <p:sp>
          <p:nvSpPr>
            <p:cNvPr id="33" name="任意多边形: 形状 32"/>
            <p:cNvSpPr/>
            <p:nvPr>
              <p:custDataLst>
                <p:tags r:id="rId9"/>
              </p:custDataLst>
            </p:nvPr>
          </p:nvSpPr>
          <p:spPr>
            <a:xfrm>
              <a:off x="515938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rgbClr val="0170BD"/>
            </a:solidFill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34" name="矩形: 圆角 33"/>
            <p:cNvSpPr/>
            <p:nvPr>
              <p:custDataLst>
                <p:tags r:id="rId10"/>
              </p:custDataLst>
            </p:nvPr>
          </p:nvSpPr>
          <p:spPr>
            <a:xfrm>
              <a:off x="515938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515938" y="3224167"/>
              <a:ext cx="2491798" cy="2098210"/>
              <a:chOff x="1039343" y="2843628"/>
              <a:chExt cx="2491798" cy="2098210"/>
            </a:xfrm>
          </p:grpSpPr>
          <p:sp>
            <p:nvSpPr>
              <p:cNvPr id="37" name="矩形 36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39343" y="3370147"/>
                <a:ext cx="2491798" cy="15716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 algn="ctr" defTabSz="914400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rPr>
                  <a:t>实物完成后可以实现随环境声音频率变化改变流水速度的功能，在节拍器单个节拍响应下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rPr>
                  <a:t>LED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rPr>
                  <a:t>灯能稳定右移一位；当用连续音乐靠近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rPr>
                  <a:t>MIC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rPr>
                  <a:t>驻极体电容话筒时，流水速度在极短时间内变快；当移开音乐播放器后，流水速度又会在极短时间内变小。</a:t>
                </a:r>
              </a:p>
            </p:txBody>
          </p:sp>
          <p:sp>
            <p:nvSpPr>
              <p:cNvPr id="38" name="矩形 37"/>
              <p:cNvSpPr/>
              <p:nvPr>
                <p:custDataLst>
                  <p:tags r:id="rId13"/>
                </p:custDataLst>
              </p:nvPr>
            </p:nvSpPr>
            <p:spPr>
              <a:xfrm>
                <a:off x="1338807" y="2843628"/>
                <a:ext cx="1892869" cy="327907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rPr>
                  <a:t>功能达标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</p:grpSp>
        <p:sp>
          <p:nvSpPr>
            <p:cNvPr id="36" name="椭圆 29"/>
            <p:cNvSpPr/>
            <p:nvPr>
              <p:custDataLst>
                <p:tags r:id="rId11"/>
              </p:custDataLst>
            </p:nvPr>
          </p:nvSpPr>
          <p:spPr>
            <a:xfrm>
              <a:off x="1415747" y="2113554"/>
              <a:ext cx="719846" cy="719846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6826250" y="1261745"/>
            <a:ext cx="3585210" cy="4900295"/>
            <a:chOff x="9156599" y="1892469"/>
            <a:chExt cx="2519464" cy="3793787"/>
          </a:xfrm>
        </p:grpSpPr>
        <p:sp>
          <p:nvSpPr>
            <p:cNvPr id="14" name="任意多边形: 形状 53"/>
            <p:cNvSpPr/>
            <p:nvPr>
              <p:custDataLst>
                <p:tags r:id="rId4"/>
              </p:custDataLst>
            </p:nvPr>
          </p:nvSpPr>
          <p:spPr>
            <a:xfrm>
              <a:off x="9156599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sp>
          <p:nvSpPr>
            <p:cNvPr id="15" name="矩形: 圆角 54"/>
            <p:cNvSpPr/>
            <p:nvPr>
              <p:custDataLst>
                <p:tags r:id="rId5"/>
              </p:custDataLst>
            </p:nvPr>
          </p:nvSpPr>
          <p:spPr>
            <a:xfrm>
              <a:off x="9156599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9184265" y="3224167"/>
              <a:ext cx="2491798" cy="2136886"/>
              <a:chOff x="1053176" y="2843628"/>
              <a:chExt cx="2491798" cy="2136886"/>
            </a:xfrm>
          </p:grpSpPr>
          <p:sp>
            <p:nvSpPr>
              <p:cNvPr id="58" name="矩形 57"/>
              <p:cNvSpPr/>
              <p:nvPr>
                <p:custDataLst>
                  <p:tags r:id="rId7"/>
                </p:custDataLst>
              </p:nvPr>
            </p:nvSpPr>
            <p:spPr>
              <a:xfrm>
                <a:off x="1053176" y="3408823"/>
                <a:ext cx="2491798" cy="15716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 algn="ctr" defTabSz="914400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rPr>
                  <a:t>在调试的过程中遇到很多问题，有粗心导致的引脚辨识错误，也有对元器件的认识的问题。对于每个问题，我们寻求了多个同学的帮助，将问题逐个解决，并进一步学习了相关元器件知识。通电后，焊接成品能够正常运行，符合课程设计要求。</a:t>
                </a:r>
              </a:p>
            </p:txBody>
          </p:sp>
          <p:sp>
            <p:nvSpPr>
              <p:cNvPr id="17" name="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1338807" y="2843628"/>
                <a:ext cx="1892869" cy="327907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字魂58号-创中黑" panose="00000500000000000000" pitchFamily="2" charset="-122"/>
                    <a:ea typeface="字魂58号-创中黑" panose="00000500000000000000" pitchFamily="2" charset="-122"/>
                    <a:sym typeface="字魂58号-创中黑" panose="00000500000000000000" pitchFamily="2" charset="-122"/>
                  </a:rPr>
                  <a:t>调试收获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字魂58号-创中黑" panose="00000500000000000000" pitchFamily="2" charset="-122"/>
                  <a:ea typeface="字魂58号-创中黑" panose="00000500000000000000" pitchFamily="2" charset="-122"/>
                  <a:sym typeface="字魂58号-创中黑" panose="00000500000000000000" pitchFamily="2" charset="-122"/>
                </a:endParaRPr>
              </a:p>
            </p:txBody>
          </p:sp>
        </p:grpSp>
        <p:sp>
          <p:nvSpPr>
            <p:cNvPr id="18" name="椭圆 32"/>
            <p:cNvSpPr/>
            <p:nvPr>
              <p:custDataLst>
                <p:tags r:id="rId6"/>
              </p:custDataLst>
            </p:nvPr>
          </p:nvSpPr>
          <p:spPr>
            <a:xfrm>
              <a:off x="10062411" y="2113554"/>
              <a:ext cx="707837" cy="719846"/>
            </a:xfrm>
            <a:custGeom>
              <a:avLst/>
              <a:gdLst>
                <a:gd name="connsiteX0" fmla="*/ 78191 w 326253"/>
                <a:gd name="connsiteY0" fmla="*/ 141987 h 331788"/>
                <a:gd name="connsiteX1" fmla="*/ 93695 w 326253"/>
                <a:gd name="connsiteY1" fmla="*/ 171683 h 331788"/>
                <a:gd name="connsiteX2" fmla="*/ 80775 w 326253"/>
                <a:gd name="connsiteY2" fmla="*/ 215583 h 331788"/>
                <a:gd name="connsiteX3" fmla="*/ 159586 w 326253"/>
                <a:gd name="connsiteY3" fmla="*/ 183304 h 331788"/>
                <a:gd name="connsiteX4" fmla="*/ 172506 w 326253"/>
                <a:gd name="connsiteY4" fmla="*/ 171683 h 331788"/>
                <a:gd name="connsiteX5" fmla="*/ 194470 w 326253"/>
                <a:gd name="connsiteY5" fmla="*/ 192342 h 331788"/>
                <a:gd name="connsiteX6" fmla="*/ 181550 w 326253"/>
                <a:gd name="connsiteY6" fmla="*/ 285306 h 331788"/>
                <a:gd name="connsiteX7" fmla="*/ 181550 w 326253"/>
                <a:gd name="connsiteY7" fmla="*/ 286597 h 331788"/>
                <a:gd name="connsiteX8" fmla="*/ 194470 w 326253"/>
                <a:gd name="connsiteY8" fmla="*/ 304674 h 331788"/>
                <a:gd name="connsiteX9" fmla="*/ 195762 w 326253"/>
                <a:gd name="connsiteY9" fmla="*/ 304674 h 331788"/>
                <a:gd name="connsiteX10" fmla="*/ 209974 w 326253"/>
                <a:gd name="connsiteY10" fmla="*/ 286597 h 331788"/>
                <a:gd name="connsiteX11" fmla="*/ 209974 w 326253"/>
                <a:gd name="connsiteY11" fmla="*/ 285306 h 331788"/>
                <a:gd name="connsiteX12" fmla="*/ 197054 w 326253"/>
                <a:gd name="connsiteY12" fmla="*/ 192342 h 331788"/>
                <a:gd name="connsiteX13" fmla="*/ 217726 w 326253"/>
                <a:gd name="connsiteY13" fmla="*/ 171683 h 331788"/>
                <a:gd name="connsiteX14" fmla="*/ 230646 w 326253"/>
                <a:gd name="connsiteY14" fmla="*/ 183304 h 331788"/>
                <a:gd name="connsiteX15" fmla="*/ 261654 w 326253"/>
                <a:gd name="connsiteY15" fmla="*/ 196216 h 331788"/>
                <a:gd name="connsiteX16" fmla="*/ 308165 w 326253"/>
                <a:gd name="connsiteY16" fmla="*/ 255609 h 331788"/>
                <a:gd name="connsiteX17" fmla="*/ 324961 w 326253"/>
                <a:gd name="connsiteY17" fmla="*/ 295635 h 331788"/>
                <a:gd name="connsiteX18" fmla="*/ 326253 w 326253"/>
                <a:gd name="connsiteY18" fmla="*/ 304674 h 331788"/>
                <a:gd name="connsiteX19" fmla="*/ 321085 w 326253"/>
                <a:gd name="connsiteY19" fmla="*/ 331788 h 331788"/>
                <a:gd name="connsiteX20" fmla="*/ 271990 w 326253"/>
                <a:gd name="connsiteY20" fmla="*/ 331788 h 331788"/>
                <a:gd name="connsiteX21" fmla="*/ 279742 w 326253"/>
                <a:gd name="connsiteY21" fmla="*/ 304674 h 331788"/>
                <a:gd name="connsiteX22" fmla="*/ 268114 w 326253"/>
                <a:gd name="connsiteY22" fmla="*/ 278850 h 331788"/>
                <a:gd name="connsiteX23" fmla="*/ 268114 w 326253"/>
                <a:gd name="connsiteY23" fmla="*/ 331788 h 331788"/>
                <a:gd name="connsiteX24" fmla="*/ 122119 w 326253"/>
                <a:gd name="connsiteY24" fmla="*/ 331788 h 331788"/>
                <a:gd name="connsiteX25" fmla="*/ 122119 w 326253"/>
                <a:gd name="connsiteY25" fmla="*/ 250445 h 331788"/>
                <a:gd name="connsiteX26" fmla="*/ 56227 w 326253"/>
                <a:gd name="connsiteY26" fmla="*/ 267230 h 331788"/>
                <a:gd name="connsiteX27" fmla="*/ 35555 w 326253"/>
                <a:gd name="connsiteY27" fmla="*/ 256900 h 331788"/>
                <a:gd name="connsiteX28" fmla="*/ 38139 w 326253"/>
                <a:gd name="connsiteY28" fmla="*/ 193633 h 331788"/>
                <a:gd name="connsiteX29" fmla="*/ 49767 w 326253"/>
                <a:gd name="connsiteY29" fmla="*/ 156189 h 331788"/>
                <a:gd name="connsiteX30" fmla="*/ 78191 w 326253"/>
                <a:gd name="connsiteY30" fmla="*/ 141987 h 331788"/>
                <a:gd name="connsiteX31" fmla="*/ 99575 w 326253"/>
                <a:gd name="connsiteY31" fmla="*/ 82184 h 331788"/>
                <a:gd name="connsiteX32" fmla="*/ 116954 w 326253"/>
                <a:gd name="connsiteY32" fmla="*/ 90732 h 331788"/>
                <a:gd name="connsiteX33" fmla="*/ 116954 w 326253"/>
                <a:gd name="connsiteY33" fmla="*/ 95617 h 331788"/>
                <a:gd name="connsiteX34" fmla="*/ 114281 w 326253"/>
                <a:gd name="connsiteY34" fmla="*/ 96838 h 331788"/>
                <a:gd name="connsiteX35" fmla="*/ 112944 w 326253"/>
                <a:gd name="connsiteY35" fmla="*/ 96838 h 331788"/>
                <a:gd name="connsiteX36" fmla="*/ 95565 w 326253"/>
                <a:gd name="connsiteY36" fmla="*/ 87069 h 331788"/>
                <a:gd name="connsiteX37" fmla="*/ 94228 w 326253"/>
                <a:gd name="connsiteY37" fmla="*/ 83405 h 331788"/>
                <a:gd name="connsiteX38" fmla="*/ 99575 w 326253"/>
                <a:gd name="connsiteY38" fmla="*/ 82184 h 331788"/>
                <a:gd name="connsiteX39" fmla="*/ 24452 w 326253"/>
                <a:gd name="connsiteY39" fmla="*/ 82184 h 331788"/>
                <a:gd name="connsiteX40" fmla="*/ 29391 w 326253"/>
                <a:gd name="connsiteY40" fmla="*/ 83405 h 331788"/>
                <a:gd name="connsiteX41" fmla="*/ 28157 w 326253"/>
                <a:gd name="connsiteY41" fmla="*/ 87069 h 331788"/>
                <a:gd name="connsiteX42" fmla="*/ 12105 w 326253"/>
                <a:gd name="connsiteY42" fmla="*/ 96838 h 331788"/>
                <a:gd name="connsiteX43" fmla="*/ 10870 w 326253"/>
                <a:gd name="connsiteY43" fmla="*/ 96838 h 331788"/>
                <a:gd name="connsiteX44" fmla="*/ 7166 w 326253"/>
                <a:gd name="connsiteY44" fmla="*/ 95617 h 331788"/>
                <a:gd name="connsiteX45" fmla="*/ 8400 w 326253"/>
                <a:gd name="connsiteY45" fmla="*/ 90732 h 331788"/>
                <a:gd name="connsiteX46" fmla="*/ 24452 w 326253"/>
                <a:gd name="connsiteY46" fmla="*/ 82184 h 331788"/>
                <a:gd name="connsiteX47" fmla="*/ 59100 w 326253"/>
                <a:gd name="connsiteY47" fmla="*/ 61913 h 331788"/>
                <a:gd name="connsiteX48" fmla="*/ 57739 w 326253"/>
                <a:gd name="connsiteY48" fmla="*/ 63274 h 331788"/>
                <a:gd name="connsiteX49" fmla="*/ 56378 w 326253"/>
                <a:gd name="connsiteY49" fmla="*/ 64635 h 331788"/>
                <a:gd name="connsiteX50" fmla="*/ 61821 w 326253"/>
                <a:gd name="connsiteY50" fmla="*/ 90488 h 331788"/>
                <a:gd name="connsiteX51" fmla="*/ 65903 w 326253"/>
                <a:gd name="connsiteY51" fmla="*/ 64635 h 331788"/>
                <a:gd name="connsiteX52" fmla="*/ 65903 w 326253"/>
                <a:gd name="connsiteY52" fmla="*/ 63274 h 331788"/>
                <a:gd name="connsiteX53" fmla="*/ 64543 w 326253"/>
                <a:gd name="connsiteY53" fmla="*/ 61913 h 331788"/>
                <a:gd name="connsiteX54" fmla="*/ 63182 w 326253"/>
                <a:gd name="connsiteY54" fmla="*/ 63274 h 331788"/>
                <a:gd name="connsiteX55" fmla="*/ 61821 w 326253"/>
                <a:gd name="connsiteY55" fmla="*/ 63274 h 331788"/>
                <a:gd name="connsiteX56" fmla="*/ 60460 w 326253"/>
                <a:gd name="connsiteY56" fmla="*/ 63274 h 331788"/>
                <a:gd name="connsiteX57" fmla="*/ 59100 w 326253"/>
                <a:gd name="connsiteY57" fmla="*/ 61913 h 331788"/>
                <a:gd name="connsiteX58" fmla="*/ 121089 w 326253"/>
                <a:gd name="connsiteY58" fmla="*/ 49213 h 331788"/>
                <a:gd name="connsiteX59" fmla="*/ 124944 w 326253"/>
                <a:gd name="connsiteY59" fmla="*/ 53381 h 331788"/>
                <a:gd name="connsiteX60" fmla="*/ 122374 w 326253"/>
                <a:gd name="connsiteY60" fmla="*/ 57548 h 331788"/>
                <a:gd name="connsiteX61" fmla="*/ 104382 w 326253"/>
                <a:gd name="connsiteY61" fmla="*/ 60326 h 331788"/>
                <a:gd name="connsiteX62" fmla="*/ 103097 w 326253"/>
                <a:gd name="connsiteY62" fmla="*/ 60326 h 331788"/>
                <a:gd name="connsiteX63" fmla="*/ 100526 w 326253"/>
                <a:gd name="connsiteY63" fmla="*/ 57548 h 331788"/>
                <a:gd name="connsiteX64" fmla="*/ 103097 w 326253"/>
                <a:gd name="connsiteY64" fmla="*/ 53381 h 331788"/>
                <a:gd name="connsiteX65" fmla="*/ 121089 w 326253"/>
                <a:gd name="connsiteY65" fmla="*/ 49213 h 331788"/>
                <a:gd name="connsiteX66" fmla="*/ 4308 w 326253"/>
                <a:gd name="connsiteY66" fmla="*/ 49213 h 331788"/>
                <a:gd name="connsiteX67" fmla="*/ 22088 w 326253"/>
                <a:gd name="connsiteY67" fmla="*/ 53381 h 331788"/>
                <a:gd name="connsiteX68" fmla="*/ 24628 w 326253"/>
                <a:gd name="connsiteY68" fmla="*/ 57548 h 331788"/>
                <a:gd name="connsiteX69" fmla="*/ 22088 w 326253"/>
                <a:gd name="connsiteY69" fmla="*/ 60326 h 331788"/>
                <a:gd name="connsiteX70" fmla="*/ 20818 w 326253"/>
                <a:gd name="connsiteY70" fmla="*/ 60326 h 331788"/>
                <a:gd name="connsiteX71" fmla="*/ 3038 w 326253"/>
                <a:gd name="connsiteY71" fmla="*/ 57548 h 331788"/>
                <a:gd name="connsiteX72" fmla="*/ 498 w 326253"/>
                <a:gd name="connsiteY72" fmla="*/ 53381 h 331788"/>
                <a:gd name="connsiteX73" fmla="*/ 4308 w 326253"/>
                <a:gd name="connsiteY73" fmla="*/ 49213 h 331788"/>
                <a:gd name="connsiteX74" fmla="*/ 62728 w 326253"/>
                <a:gd name="connsiteY74" fmla="*/ 41275 h 331788"/>
                <a:gd name="connsiteX75" fmla="*/ 40503 w 326253"/>
                <a:gd name="connsiteY75" fmla="*/ 60552 h 331788"/>
                <a:gd name="connsiteX76" fmla="*/ 47040 w 326253"/>
                <a:gd name="connsiteY76" fmla="*/ 78544 h 331788"/>
                <a:gd name="connsiteX77" fmla="*/ 54884 w 326253"/>
                <a:gd name="connsiteY77" fmla="*/ 95250 h 331788"/>
                <a:gd name="connsiteX78" fmla="*/ 58806 w 326253"/>
                <a:gd name="connsiteY78" fmla="*/ 95250 h 331788"/>
                <a:gd name="connsiteX79" fmla="*/ 53577 w 326253"/>
                <a:gd name="connsiteY79" fmla="*/ 65692 h 331788"/>
                <a:gd name="connsiteX80" fmla="*/ 54884 w 326253"/>
                <a:gd name="connsiteY80" fmla="*/ 60552 h 331788"/>
                <a:gd name="connsiteX81" fmla="*/ 60114 w 326253"/>
                <a:gd name="connsiteY81" fmla="*/ 59267 h 331788"/>
                <a:gd name="connsiteX82" fmla="*/ 62728 w 326253"/>
                <a:gd name="connsiteY82" fmla="*/ 59267 h 331788"/>
                <a:gd name="connsiteX83" fmla="*/ 65343 w 326253"/>
                <a:gd name="connsiteY83" fmla="*/ 59267 h 331788"/>
                <a:gd name="connsiteX84" fmla="*/ 70572 w 326253"/>
                <a:gd name="connsiteY84" fmla="*/ 60552 h 331788"/>
                <a:gd name="connsiteX85" fmla="*/ 71880 w 326253"/>
                <a:gd name="connsiteY85" fmla="*/ 65692 h 331788"/>
                <a:gd name="connsiteX86" fmla="*/ 66650 w 326253"/>
                <a:gd name="connsiteY86" fmla="*/ 95250 h 331788"/>
                <a:gd name="connsiteX87" fmla="*/ 69265 w 326253"/>
                <a:gd name="connsiteY87" fmla="*/ 95250 h 331788"/>
                <a:gd name="connsiteX88" fmla="*/ 77109 w 326253"/>
                <a:gd name="connsiteY88" fmla="*/ 78544 h 331788"/>
                <a:gd name="connsiteX89" fmla="*/ 84953 w 326253"/>
                <a:gd name="connsiteY89" fmla="*/ 60552 h 331788"/>
                <a:gd name="connsiteX90" fmla="*/ 62728 w 326253"/>
                <a:gd name="connsiteY90" fmla="*/ 41275 h 331788"/>
                <a:gd name="connsiteX91" fmla="*/ 62728 w 326253"/>
                <a:gd name="connsiteY91" fmla="*/ 33338 h 331788"/>
                <a:gd name="connsiteX92" fmla="*/ 91303 w 326253"/>
                <a:gd name="connsiteY92" fmla="*/ 60395 h 331788"/>
                <a:gd name="connsiteX93" fmla="*/ 83510 w 326253"/>
                <a:gd name="connsiteY93" fmla="*/ 82298 h 331788"/>
                <a:gd name="connsiteX94" fmla="*/ 77016 w 326253"/>
                <a:gd name="connsiteY94" fmla="*/ 99047 h 331788"/>
                <a:gd name="connsiteX95" fmla="*/ 75717 w 326253"/>
                <a:gd name="connsiteY95" fmla="*/ 111931 h 331788"/>
                <a:gd name="connsiteX96" fmla="*/ 73119 w 326253"/>
                <a:gd name="connsiteY96" fmla="*/ 115796 h 331788"/>
                <a:gd name="connsiteX97" fmla="*/ 70521 w 326253"/>
                <a:gd name="connsiteY97" fmla="*/ 115796 h 331788"/>
                <a:gd name="connsiteX98" fmla="*/ 62728 w 326253"/>
                <a:gd name="connsiteY98" fmla="*/ 122238 h 331788"/>
                <a:gd name="connsiteX99" fmla="*/ 54935 w 326253"/>
                <a:gd name="connsiteY99" fmla="*/ 115796 h 331788"/>
                <a:gd name="connsiteX100" fmla="*/ 52337 w 326253"/>
                <a:gd name="connsiteY100" fmla="*/ 115796 h 331788"/>
                <a:gd name="connsiteX101" fmla="*/ 48441 w 326253"/>
                <a:gd name="connsiteY101" fmla="*/ 111931 h 331788"/>
                <a:gd name="connsiteX102" fmla="*/ 48441 w 326253"/>
                <a:gd name="connsiteY102" fmla="*/ 99047 h 331788"/>
                <a:gd name="connsiteX103" fmla="*/ 41946 w 326253"/>
                <a:gd name="connsiteY103" fmla="*/ 82298 h 331788"/>
                <a:gd name="connsiteX104" fmla="*/ 34153 w 326253"/>
                <a:gd name="connsiteY104" fmla="*/ 60395 h 331788"/>
                <a:gd name="connsiteX105" fmla="*/ 62728 w 326253"/>
                <a:gd name="connsiteY105" fmla="*/ 33338 h 331788"/>
                <a:gd name="connsiteX106" fmla="*/ 195140 w 326253"/>
                <a:gd name="connsiteY106" fmla="*/ 26988 h 331788"/>
                <a:gd name="connsiteX107" fmla="*/ 254816 w 326253"/>
                <a:gd name="connsiteY107" fmla="*/ 86198 h 331788"/>
                <a:gd name="connsiteX108" fmla="*/ 195140 w 326253"/>
                <a:gd name="connsiteY108" fmla="*/ 169863 h 331788"/>
                <a:gd name="connsiteX109" fmla="*/ 134166 w 326253"/>
                <a:gd name="connsiteY109" fmla="*/ 86198 h 331788"/>
                <a:gd name="connsiteX110" fmla="*/ 195140 w 326253"/>
                <a:gd name="connsiteY110" fmla="*/ 26988 h 331788"/>
                <a:gd name="connsiteX111" fmla="*/ 103011 w 326253"/>
                <a:gd name="connsiteY111" fmla="*/ 14288 h 331788"/>
                <a:gd name="connsiteX112" fmla="*/ 104301 w 326253"/>
                <a:gd name="connsiteY112" fmla="*/ 19448 h 331788"/>
                <a:gd name="connsiteX113" fmla="*/ 91403 w 326253"/>
                <a:gd name="connsiteY113" fmla="*/ 33636 h 331788"/>
                <a:gd name="connsiteX114" fmla="*/ 88823 w 326253"/>
                <a:gd name="connsiteY114" fmla="*/ 34926 h 331788"/>
                <a:gd name="connsiteX115" fmla="*/ 87533 w 326253"/>
                <a:gd name="connsiteY115" fmla="*/ 34926 h 331788"/>
                <a:gd name="connsiteX116" fmla="*/ 86243 w 326253"/>
                <a:gd name="connsiteY116" fmla="*/ 29767 h 331788"/>
                <a:gd name="connsiteX117" fmla="*/ 99142 w 326253"/>
                <a:gd name="connsiteY117" fmla="*/ 15578 h 331788"/>
                <a:gd name="connsiteX118" fmla="*/ 103011 w 326253"/>
                <a:gd name="connsiteY118" fmla="*/ 14288 h 331788"/>
                <a:gd name="connsiteX119" fmla="*/ 21136 w 326253"/>
                <a:gd name="connsiteY119" fmla="*/ 14288 h 331788"/>
                <a:gd name="connsiteX120" fmla="*/ 26216 w 326253"/>
                <a:gd name="connsiteY120" fmla="*/ 15578 h 331788"/>
                <a:gd name="connsiteX121" fmla="*/ 37646 w 326253"/>
                <a:gd name="connsiteY121" fmla="*/ 29767 h 331788"/>
                <a:gd name="connsiteX122" fmla="*/ 37646 w 326253"/>
                <a:gd name="connsiteY122" fmla="*/ 34926 h 331788"/>
                <a:gd name="connsiteX123" fmla="*/ 35106 w 326253"/>
                <a:gd name="connsiteY123" fmla="*/ 34926 h 331788"/>
                <a:gd name="connsiteX124" fmla="*/ 32566 w 326253"/>
                <a:gd name="connsiteY124" fmla="*/ 33636 h 331788"/>
                <a:gd name="connsiteX125" fmla="*/ 21136 w 326253"/>
                <a:gd name="connsiteY125" fmla="*/ 19448 h 331788"/>
                <a:gd name="connsiteX126" fmla="*/ 19866 w 326253"/>
                <a:gd name="connsiteY126" fmla="*/ 16868 h 331788"/>
                <a:gd name="connsiteX127" fmla="*/ 21136 w 326253"/>
                <a:gd name="connsiteY127" fmla="*/ 14288 h 331788"/>
                <a:gd name="connsiteX128" fmla="*/ 61935 w 326253"/>
                <a:gd name="connsiteY128" fmla="*/ 0 h 331788"/>
                <a:gd name="connsiteX129" fmla="*/ 65904 w 326253"/>
                <a:gd name="connsiteY129" fmla="*/ 4048 h 331788"/>
                <a:gd name="connsiteX130" fmla="*/ 65904 w 326253"/>
                <a:gd name="connsiteY130" fmla="*/ 22940 h 331788"/>
                <a:gd name="connsiteX131" fmla="*/ 61935 w 326253"/>
                <a:gd name="connsiteY131" fmla="*/ 26988 h 331788"/>
                <a:gd name="connsiteX132" fmla="*/ 59289 w 326253"/>
                <a:gd name="connsiteY132" fmla="*/ 25639 h 331788"/>
                <a:gd name="connsiteX133" fmla="*/ 57966 w 326253"/>
                <a:gd name="connsiteY133" fmla="*/ 22940 h 331788"/>
                <a:gd name="connsiteX134" fmla="*/ 57966 w 326253"/>
                <a:gd name="connsiteY134" fmla="*/ 4048 h 331788"/>
                <a:gd name="connsiteX135" fmla="*/ 61935 w 326253"/>
                <a:gd name="connsiteY135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26253" h="331788">
                  <a:moveTo>
                    <a:pt x="78191" y="141987"/>
                  </a:moveTo>
                  <a:cubicBezTo>
                    <a:pt x="91111" y="145860"/>
                    <a:pt x="97571" y="158772"/>
                    <a:pt x="93695" y="171683"/>
                  </a:cubicBezTo>
                  <a:cubicBezTo>
                    <a:pt x="88527" y="187177"/>
                    <a:pt x="83359" y="202671"/>
                    <a:pt x="80775" y="215583"/>
                  </a:cubicBezTo>
                  <a:cubicBezTo>
                    <a:pt x="101447" y="209127"/>
                    <a:pt x="159586" y="183304"/>
                    <a:pt x="159586" y="183304"/>
                  </a:cubicBezTo>
                  <a:cubicBezTo>
                    <a:pt x="159586" y="183304"/>
                    <a:pt x="159586" y="183304"/>
                    <a:pt x="172506" y="171683"/>
                  </a:cubicBezTo>
                  <a:cubicBezTo>
                    <a:pt x="172506" y="171683"/>
                    <a:pt x="172506" y="171683"/>
                    <a:pt x="194470" y="192342"/>
                  </a:cubicBezTo>
                  <a:cubicBezTo>
                    <a:pt x="194470" y="192342"/>
                    <a:pt x="194470" y="192342"/>
                    <a:pt x="181550" y="285306"/>
                  </a:cubicBezTo>
                  <a:cubicBezTo>
                    <a:pt x="181550" y="285306"/>
                    <a:pt x="181550" y="285306"/>
                    <a:pt x="181550" y="286597"/>
                  </a:cubicBezTo>
                  <a:cubicBezTo>
                    <a:pt x="181550" y="286597"/>
                    <a:pt x="181550" y="286597"/>
                    <a:pt x="194470" y="304674"/>
                  </a:cubicBezTo>
                  <a:cubicBezTo>
                    <a:pt x="194470" y="304674"/>
                    <a:pt x="194470" y="304674"/>
                    <a:pt x="195762" y="304674"/>
                  </a:cubicBezTo>
                  <a:cubicBezTo>
                    <a:pt x="195762" y="304674"/>
                    <a:pt x="195762" y="304674"/>
                    <a:pt x="209974" y="286597"/>
                  </a:cubicBezTo>
                  <a:cubicBezTo>
                    <a:pt x="209974" y="285306"/>
                    <a:pt x="209974" y="285306"/>
                    <a:pt x="209974" y="285306"/>
                  </a:cubicBezTo>
                  <a:cubicBezTo>
                    <a:pt x="209974" y="285306"/>
                    <a:pt x="209974" y="285306"/>
                    <a:pt x="197054" y="192342"/>
                  </a:cubicBezTo>
                  <a:cubicBezTo>
                    <a:pt x="197054" y="192342"/>
                    <a:pt x="197054" y="192342"/>
                    <a:pt x="217726" y="171683"/>
                  </a:cubicBezTo>
                  <a:cubicBezTo>
                    <a:pt x="217726" y="171683"/>
                    <a:pt x="217726" y="171683"/>
                    <a:pt x="230646" y="183304"/>
                  </a:cubicBezTo>
                  <a:cubicBezTo>
                    <a:pt x="230646" y="183304"/>
                    <a:pt x="261654" y="196216"/>
                    <a:pt x="261654" y="196216"/>
                  </a:cubicBezTo>
                  <a:cubicBezTo>
                    <a:pt x="278450" y="205254"/>
                    <a:pt x="293953" y="223330"/>
                    <a:pt x="308165" y="255609"/>
                  </a:cubicBezTo>
                  <a:cubicBezTo>
                    <a:pt x="318501" y="276268"/>
                    <a:pt x="324961" y="294344"/>
                    <a:pt x="324961" y="295635"/>
                  </a:cubicBezTo>
                  <a:cubicBezTo>
                    <a:pt x="326253" y="298218"/>
                    <a:pt x="326253" y="300800"/>
                    <a:pt x="326253" y="304674"/>
                  </a:cubicBezTo>
                  <a:cubicBezTo>
                    <a:pt x="326253" y="305965"/>
                    <a:pt x="324961" y="316294"/>
                    <a:pt x="321085" y="331788"/>
                  </a:cubicBezTo>
                  <a:cubicBezTo>
                    <a:pt x="321085" y="331788"/>
                    <a:pt x="321085" y="331788"/>
                    <a:pt x="271990" y="331788"/>
                  </a:cubicBezTo>
                  <a:cubicBezTo>
                    <a:pt x="275866" y="318876"/>
                    <a:pt x="278450" y="309838"/>
                    <a:pt x="279742" y="304674"/>
                  </a:cubicBezTo>
                  <a:cubicBezTo>
                    <a:pt x="277158" y="299509"/>
                    <a:pt x="273282" y="289180"/>
                    <a:pt x="268114" y="278850"/>
                  </a:cubicBezTo>
                  <a:cubicBezTo>
                    <a:pt x="268114" y="278850"/>
                    <a:pt x="268114" y="278850"/>
                    <a:pt x="268114" y="331788"/>
                  </a:cubicBezTo>
                  <a:cubicBezTo>
                    <a:pt x="268114" y="331788"/>
                    <a:pt x="268114" y="331788"/>
                    <a:pt x="122119" y="331788"/>
                  </a:cubicBezTo>
                  <a:cubicBezTo>
                    <a:pt x="122119" y="331788"/>
                    <a:pt x="122119" y="331788"/>
                    <a:pt x="122119" y="250445"/>
                  </a:cubicBezTo>
                  <a:cubicBezTo>
                    <a:pt x="94987" y="260774"/>
                    <a:pt x="70439" y="267230"/>
                    <a:pt x="56227" y="267230"/>
                  </a:cubicBezTo>
                  <a:cubicBezTo>
                    <a:pt x="48475" y="267230"/>
                    <a:pt x="40723" y="263356"/>
                    <a:pt x="35555" y="256900"/>
                  </a:cubicBezTo>
                  <a:cubicBezTo>
                    <a:pt x="27803" y="245280"/>
                    <a:pt x="27803" y="229786"/>
                    <a:pt x="38139" y="193633"/>
                  </a:cubicBezTo>
                  <a:cubicBezTo>
                    <a:pt x="43307" y="175557"/>
                    <a:pt x="48475" y="157481"/>
                    <a:pt x="49767" y="156189"/>
                  </a:cubicBezTo>
                  <a:cubicBezTo>
                    <a:pt x="53643" y="144569"/>
                    <a:pt x="66563" y="138113"/>
                    <a:pt x="78191" y="141987"/>
                  </a:cubicBezTo>
                  <a:close/>
                  <a:moveTo>
                    <a:pt x="99575" y="82184"/>
                  </a:moveTo>
                  <a:lnTo>
                    <a:pt x="116954" y="90732"/>
                  </a:lnTo>
                  <a:cubicBezTo>
                    <a:pt x="118291" y="91954"/>
                    <a:pt x="118291" y="93175"/>
                    <a:pt x="116954" y="95617"/>
                  </a:cubicBezTo>
                  <a:cubicBezTo>
                    <a:pt x="116954" y="96838"/>
                    <a:pt x="115618" y="96838"/>
                    <a:pt x="114281" y="96838"/>
                  </a:cubicBezTo>
                  <a:cubicBezTo>
                    <a:pt x="114281" y="96838"/>
                    <a:pt x="112944" y="96838"/>
                    <a:pt x="112944" y="96838"/>
                  </a:cubicBezTo>
                  <a:cubicBezTo>
                    <a:pt x="112944" y="96838"/>
                    <a:pt x="112944" y="96838"/>
                    <a:pt x="95565" y="87069"/>
                  </a:cubicBezTo>
                  <a:cubicBezTo>
                    <a:pt x="94228" y="87069"/>
                    <a:pt x="92891" y="84627"/>
                    <a:pt x="94228" y="83405"/>
                  </a:cubicBezTo>
                  <a:cubicBezTo>
                    <a:pt x="95565" y="80963"/>
                    <a:pt x="96902" y="80963"/>
                    <a:pt x="99575" y="82184"/>
                  </a:cubicBezTo>
                  <a:close/>
                  <a:moveTo>
                    <a:pt x="24452" y="82184"/>
                  </a:moveTo>
                  <a:cubicBezTo>
                    <a:pt x="25687" y="80963"/>
                    <a:pt x="28157" y="80963"/>
                    <a:pt x="29391" y="83405"/>
                  </a:cubicBezTo>
                  <a:cubicBezTo>
                    <a:pt x="29391" y="84627"/>
                    <a:pt x="29391" y="87069"/>
                    <a:pt x="28157" y="87069"/>
                  </a:cubicBezTo>
                  <a:cubicBezTo>
                    <a:pt x="28157" y="87069"/>
                    <a:pt x="28157" y="87069"/>
                    <a:pt x="12105" y="96838"/>
                  </a:cubicBezTo>
                  <a:cubicBezTo>
                    <a:pt x="12105" y="96838"/>
                    <a:pt x="10870" y="96838"/>
                    <a:pt x="10870" y="96838"/>
                  </a:cubicBezTo>
                  <a:cubicBezTo>
                    <a:pt x="9635" y="96838"/>
                    <a:pt x="8400" y="96838"/>
                    <a:pt x="7166" y="95617"/>
                  </a:cubicBezTo>
                  <a:cubicBezTo>
                    <a:pt x="7166" y="93175"/>
                    <a:pt x="7166" y="91954"/>
                    <a:pt x="8400" y="90732"/>
                  </a:cubicBezTo>
                  <a:cubicBezTo>
                    <a:pt x="8400" y="90732"/>
                    <a:pt x="8400" y="90732"/>
                    <a:pt x="24452" y="82184"/>
                  </a:cubicBezTo>
                  <a:close/>
                  <a:moveTo>
                    <a:pt x="59100" y="61913"/>
                  </a:moveTo>
                  <a:cubicBezTo>
                    <a:pt x="59100" y="61913"/>
                    <a:pt x="57739" y="61913"/>
                    <a:pt x="57739" y="63274"/>
                  </a:cubicBezTo>
                  <a:cubicBezTo>
                    <a:pt x="57739" y="63274"/>
                    <a:pt x="56378" y="63274"/>
                    <a:pt x="56378" y="64635"/>
                  </a:cubicBezTo>
                  <a:cubicBezTo>
                    <a:pt x="56378" y="64635"/>
                    <a:pt x="56378" y="64635"/>
                    <a:pt x="61821" y="90488"/>
                  </a:cubicBezTo>
                  <a:lnTo>
                    <a:pt x="65903" y="64635"/>
                  </a:lnTo>
                  <a:cubicBezTo>
                    <a:pt x="65903" y="63274"/>
                    <a:pt x="65903" y="63274"/>
                    <a:pt x="65903" y="63274"/>
                  </a:cubicBezTo>
                  <a:cubicBezTo>
                    <a:pt x="65903" y="61913"/>
                    <a:pt x="64543" y="61913"/>
                    <a:pt x="64543" y="61913"/>
                  </a:cubicBezTo>
                  <a:cubicBezTo>
                    <a:pt x="64543" y="61913"/>
                    <a:pt x="63182" y="61913"/>
                    <a:pt x="63182" y="63274"/>
                  </a:cubicBezTo>
                  <a:cubicBezTo>
                    <a:pt x="63182" y="63274"/>
                    <a:pt x="61821" y="63274"/>
                    <a:pt x="61821" y="63274"/>
                  </a:cubicBezTo>
                  <a:cubicBezTo>
                    <a:pt x="60460" y="63274"/>
                    <a:pt x="60460" y="63274"/>
                    <a:pt x="60460" y="63274"/>
                  </a:cubicBezTo>
                  <a:cubicBezTo>
                    <a:pt x="59100" y="61913"/>
                    <a:pt x="59100" y="61913"/>
                    <a:pt x="59100" y="61913"/>
                  </a:cubicBezTo>
                  <a:close/>
                  <a:moveTo>
                    <a:pt x="121089" y="49213"/>
                  </a:moveTo>
                  <a:cubicBezTo>
                    <a:pt x="123659" y="49213"/>
                    <a:pt x="124944" y="50602"/>
                    <a:pt x="124944" y="53381"/>
                  </a:cubicBezTo>
                  <a:cubicBezTo>
                    <a:pt x="126229" y="54770"/>
                    <a:pt x="124944" y="56159"/>
                    <a:pt x="122374" y="57548"/>
                  </a:cubicBezTo>
                  <a:cubicBezTo>
                    <a:pt x="122374" y="57548"/>
                    <a:pt x="122374" y="57548"/>
                    <a:pt x="104382" y="60326"/>
                  </a:cubicBezTo>
                  <a:cubicBezTo>
                    <a:pt x="103097" y="60326"/>
                    <a:pt x="103097" y="60326"/>
                    <a:pt x="103097" y="60326"/>
                  </a:cubicBezTo>
                  <a:cubicBezTo>
                    <a:pt x="101812" y="60326"/>
                    <a:pt x="100526" y="58937"/>
                    <a:pt x="100526" y="57548"/>
                  </a:cubicBezTo>
                  <a:cubicBezTo>
                    <a:pt x="99241" y="56159"/>
                    <a:pt x="100526" y="53381"/>
                    <a:pt x="103097" y="53381"/>
                  </a:cubicBezTo>
                  <a:cubicBezTo>
                    <a:pt x="103097" y="53381"/>
                    <a:pt x="103097" y="53381"/>
                    <a:pt x="121089" y="49213"/>
                  </a:cubicBezTo>
                  <a:close/>
                  <a:moveTo>
                    <a:pt x="4308" y="49213"/>
                  </a:moveTo>
                  <a:cubicBezTo>
                    <a:pt x="4308" y="49213"/>
                    <a:pt x="4308" y="49213"/>
                    <a:pt x="22088" y="53381"/>
                  </a:cubicBezTo>
                  <a:cubicBezTo>
                    <a:pt x="24628" y="53381"/>
                    <a:pt x="24628" y="56159"/>
                    <a:pt x="24628" y="57548"/>
                  </a:cubicBezTo>
                  <a:cubicBezTo>
                    <a:pt x="24628" y="58937"/>
                    <a:pt x="23358" y="60326"/>
                    <a:pt x="22088" y="60326"/>
                  </a:cubicBezTo>
                  <a:cubicBezTo>
                    <a:pt x="20818" y="60326"/>
                    <a:pt x="20818" y="60326"/>
                    <a:pt x="20818" y="60326"/>
                  </a:cubicBezTo>
                  <a:cubicBezTo>
                    <a:pt x="20818" y="60326"/>
                    <a:pt x="20818" y="60326"/>
                    <a:pt x="3038" y="57548"/>
                  </a:cubicBezTo>
                  <a:cubicBezTo>
                    <a:pt x="498" y="56159"/>
                    <a:pt x="-772" y="54770"/>
                    <a:pt x="498" y="53381"/>
                  </a:cubicBezTo>
                  <a:cubicBezTo>
                    <a:pt x="498" y="50602"/>
                    <a:pt x="1768" y="49213"/>
                    <a:pt x="4308" y="49213"/>
                  </a:cubicBezTo>
                  <a:close/>
                  <a:moveTo>
                    <a:pt x="62728" y="41275"/>
                  </a:moveTo>
                  <a:cubicBezTo>
                    <a:pt x="50962" y="41275"/>
                    <a:pt x="40503" y="50271"/>
                    <a:pt x="40503" y="60552"/>
                  </a:cubicBezTo>
                  <a:cubicBezTo>
                    <a:pt x="40503" y="69548"/>
                    <a:pt x="44425" y="73403"/>
                    <a:pt x="47040" y="78544"/>
                  </a:cubicBezTo>
                  <a:cubicBezTo>
                    <a:pt x="50962" y="83684"/>
                    <a:pt x="54884" y="88825"/>
                    <a:pt x="54884" y="95250"/>
                  </a:cubicBezTo>
                  <a:cubicBezTo>
                    <a:pt x="54884" y="95250"/>
                    <a:pt x="54884" y="95250"/>
                    <a:pt x="58806" y="95250"/>
                  </a:cubicBezTo>
                  <a:cubicBezTo>
                    <a:pt x="58806" y="95250"/>
                    <a:pt x="58806" y="95250"/>
                    <a:pt x="53577" y="65692"/>
                  </a:cubicBezTo>
                  <a:cubicBezTo>
                    <a:pt x="53577" y="64407"/>
                    <a:pt x="53577" y="61837"/>
                    <a:pt x="54884" y="60552"/>
                  </a:cubicBezTo>
                  <a:cubicBezTo>
                    <a:pt x="56191" y="59267"/>
                    <a:pt x="58806" y="59267"/>
                    <a:pt x="60114" y="59267"/>
                  </a:cubicBezTo>
                  <a:cubicBezTo>
                    <a:pt x="61421" y="59267"/>
                    <a:pt x="61421" y="59267"/>
                    <a:pt x="62728" y="59267"/>
                  </a:cubicBezTo>
                  <a:cubicBezTo>
                    <a:pt x="64036" y="59267"/>
                    <a:pt x="64036" y="59267"/>
                    <a:pt x="65343" y="59267"/>
                  </a:cubicBezTo>
                  <a:cubicBezTo>
                    <a:pt x="66650" y="59267"/>
                    <a:pt x="69265" y="59267"/>
                    <a:pt x="70572" y="60552"/>
                  </a:cubicBezTo>
                  <a:cubicBezTo>
                    <a:pt x="70572" y="61837"/>
                    <a:pt x="71880" y="64407"/>
                    <a:pt x="71880" y="65692"/>
                  </a:cubicBezTo>
                  <a:cubicBezTo>
                    <a:pt x="71880" y="65692"/>
                    <a:pt x="71880" y="65692"/>
                    <a:pt x="66650" y="95250"/>
                  </a:cubicBezTo>
                  <a:cubicBezTo>
                    <a:pt x="66650" y="95250"/>
                    <a:pt x="66650" y="95250"/>
                    <a:pt x="69265" y="95250"/>
                  </a:cubicBezTo>
                  <a:cubicBezTo>
                    <a:pt x="70572" y="88825"/>
                    <a:pt x="74494" y="83684"/>
                    <a:pt x="77109" y="78544"/>
                  </a:cubicBezTo>
                  <a:cubicBezTo>
                    <a:pt x="81031" y="73403"/>
                    <a:pt x="84953" y="69548"/>
                    <a:pt x="84953" y="60552"/>
                  </a:cubicBezTo>
                  <a:cubicBezTo>
                    <a:pt x="84953" y="50271"/>
                    <a:pt x="74494" y="41275"/>
                    <a:pt x="62728" y="41275"/>
                  </a:cubicBezTo>
                  <a:close/>
                  <a:moveTo>
                    <a:pt x="62728" y="33338"/>
                  </a:moveTo>
                  <a:cubicBezTo>
                    <a:pt x="78315" y="33338"/>
                    <a:pt x="91303" y="46222"/>
                    <a:pt x="91303" y="60395"/>
                  </a:cubicBezTo>
                  <a:cubicBezTo>
                    <a:pt x="91303" y="70702"/>
                    <a:pt x="87407" y="77144"/>
                    <a:pt x="83510" y="82298"/>
                  </a:cubicBezTo>
                  <a:cubicBezTo>
                    <a:pt x="79613" y="87451"/>
                    <a:pt x="77016" y="92605"/>
                    <a:pt x="77016" y="99047"/>
                  </a:cubicBezTo>
                  <a:cubicBezTo>
                    <a:pt x="77016" y="99047"/>
                    <a:pt x="77016" y="99047"/>
                    <a:pt x="75717" y="111931"/>
                  </a:cubicBezTo>
                  <a:cubicBezTo>
                    <a:pt x="75717" y="114508"/>
                    <a:pt x="74418" y="115796"/>
                    <a:pt x="73119" y="115796"/>
                  </a:cubicBezTo>
                  <a:cubicBezTo>
                    <a:pt x="73119" y="115796"/>
                    <a:pt x="73119" y="115796"/>
                    <a:pt x="70521" y="115796"/>
                  </a:cubicBezTo>
                  <a:cubicBezTo>
                    <a:pt x="69223" y="119661"/>
                    <a:pt x="66625" y="122238"/>
                    <a:pt x="62728" y="122238"/>
                  </a:cubicBezTo>
                  <a:cubicBezTo>
                    <a:pt x="58832" y="122238"/>
                    <a:pt x="54935" y="119661"/>
                    <a:pt x="54935" y="115796"/>
                  </a:cubicBezTo>
                  <a:cubicBezTo>
                    <a:pt x="54935" y="115796"/>
                    <a:pt x="54935" y="115796"/>
                    <a:pt x="52337" y="115796"/>
                  </a:cubicBezTo>
                  <a:cubicBezTo>
                    <a:pt x="51038" y="115796"/>
                    <a:pt x="48441" y="114508"/>
                    <a:pt x="48441" y="111931"/>
                  </a:cubicBezTo>
                  <a:cubicBezTo>
                    <a:pt x="48441" y="111931"/>
                    <a:pt x="48441" y="111931"/>
                    <a:pt x="48441" y="99047"/>
                  </a:cubicBezTo>
                  <a:cubicBezTo>
                    <a:pt x="48441" y="92605"/>
                    <a:pt x="44544" y="87451"/>
                    <a:pt x="41946" y="82298"/>
                  </a:cubicBezTo>
                  <a:cubicBezTo>
                    <a:pt x="38050" y="77144"/>
                    <a:pt x="34153" y="70702"/>
                    <a:pt x="34153" y="60395"/>
                  </a:cubicBezTo>
                  <a:cubicBezTo>
                    <a:pt x="34153" y="46222"/>
                    <a:pt x="47142" y="33338"/>
                    <a:pt x="62728" y="33338"/>
                  </a:cubicBezTo>
                  <a:close/>
                  <a:moveTo>
                    <a:pt x="195140" y="26988"/>
                  </a:moveTo>
                  <a:cubicBezTo>
                    <a:pt x="237951" y="26988"/>
                    <a:pt x="254816" y="48870"/>
                    <a:pt x="254816" y="86198"/>
                  </a:cubicBezTo>
                  <a:cubicBezTo>
                    <a:pt x="253519" y="138971"/>
                    <a:pt x="228870" y="169863"/>
                    <a:pt x="195140" y="169863"/>
                  </a:cubicBezTo>
                  <a:cubicBezTo>
                    <a:pt x="160112" y="169863"/>
                    <a:pt x="135464" y="138971"/>
                    <a:pt x="134166" y="86198"/>
                  </a:cubicBezTo>
                  <a:cubicBezTo>
                    <a:pt x="134166" y="48870"/>
                    <a:pt x="152329" y="26988"/>
                    <a:pt x="195140" y="26988"/>
                  </a:cubicBezTo>
                  <a:close/>
                  <a:moveTo>
                    <a:pt x="103011" y="14288"/>
                  </a:moveTo>
                  <a:cubicBezTo>
                    <a:pt x="105591" y="15578"/>
                    <a:pt x="105591" y="18158"/>
                    <a:pt x="104301" y="19448"/>
                  </a:cubicBezTo>
                  <a:cubicBezTo>
                    <a:pt x="104301" y="19448"/>
                    <a:pt x="104301" y="19448"/>
                    <a:pt x="91403" y="33636"/>
                  </a:cubicBezTo>
                  <a:cubicBezTo>
                    <a:pt x="91403" y="34926"/>
                    <a:pt x="90113" y="34926"/>
                    <a:pt x="88823" y="34926"/>
                  </a:cubicBezTo>
                  <a:cubicBezTo>
                    <a:pt x="88823" y="34926"/>
                    <a:pt x="87533" y="34926"/>
                    <a:pt x="87533" y="34926"/>
                  </a:cubicBezTo>
                  <a:cubicBezTo>
                    <a:pt x="86243" y="33636"/>
                    <a:pt x="84953" y="31057"/>
                    <a:pt x="86243" y="29767"/>
                  </a:cubicBezTo>
                  <a:cubicBezTo>
                    <a:pt x="86243" y="29767"/>
                    <a:pt x="86243" y="29767"/>
                    <a:pt x="99142" y="15578"/>
                  </a:cubicBezTo>
                  <a:cubicBezTo>
                    <a:pt x="100432" y="14288"/>
                    <a:pt x="101722" y="14288"/>
                    <a:pt x="103011" y="14288"/>
                  </a:cubicBezTo>
                  <a:close/>
                  <a:moveTo>
                    <a:pt x="21136" y="14288"/>
                  </a:moveTo>
                  <a:cubicBezTo>
                    <a:pt x="22406" y="14288"/>
                    <a:pt x="24946" y="14288"/>
                    <a:pt x="26216" y="15578"/>
                  </a:cubicBezTo>
                  <a:cubicBezTo>
                    <a:pt x="26216" y="15578"/>
                    <a:pt x="26216" y="15578"/>
                    <a:pt x="37646" y="29767"/>
                  </a:cubicBezTo>
                  <a:cubicBezTo>
                    <a:pt x="38916" y="31057"/>
                    <a:pt x="38916" y="33636"/>
                    <a:pt x="37646" y="34926"/>
                  </a:cubicBezTo>
                  <a:cubicBezTo>
                    <a:pt x="37646" y="34926"/>
                    <a:pt x="36376" y="34926"/>
                    <a:pt x="35106" y="34926"/>
                  </a:cubicBezTo>
                  <a:cubicBezTo>
                    <a:pt x="35106" y="34926"/>
                    <a:pt x="33836" y="34926"/>
                    <a:pt x="32566" y="33636"/>
                  </a:cubicBezTo>
                  <a:lnTo>
                    <a:pt x="21136" y="19448"/>
                  </a:lnTo>
                  <a:cubicBezTo>
                    <a:pt x="21136" y="19448"/>
                    <a:pt x="19866" y="18158"/>
                    <a:pt x="19866" y="16868"/>
                  </a:cubicBezTo>
                  <a:cubicBezTo>
                    <a:pt x="19866" y="16868"/>
                    <a:pt x="21136" y="15578"/>
                    <a:pt x="21136" y="14288"/>
                  </a:cubicBezTo>
                  <a:close/>
                  <a:moveTo>
                    <a:pt x="61935" y="0"/>
                  </a:moveTo>
                  <a:cubicBezTo>
                    <a:pt x="63258" y="0"/>
                    <a:pt x="65904" y="1349"/>
                    <a:pt x="65904" y="4048"/>
                  </a:cubicBezTo>
                  <a:cubicBezTo>
                    <a:pt x="65904" y="4048"/>
                    <a:pt x="65904" y="4048"/>
                    <a:pt x="65904" y="22940"/>
                  </a:cubicBezTo>
                  <a:cubicBezTo>
                    <a:pt x="65904" y="25639"/>
                    <a:pt x="63258" y="26988"/>
                    <a:pt x="61935" y="26988"/>
                  </a:cubicBezTo>
                  <a:cubicBezTo>
                    <a:pt x="60612" y="26988"/>
                    <a:pt x="60612" y="26988"/>
                    <a:pt x="59289" y="25639"/>
                  </a:cubicBezTo>
                  <a:cubicBezTo>
                    <a:pt x="59289" y="25639"/>
                    <a:pt x="57966" y="24289"/>
                    <a:pt x="57966" y="22940"/>
                  </a:cubicBezTo>
                  <a:cubicBezTo>
                    <a:pt x="57966" y="22940"/>
                    <a:pt x="57966" y="22940"/>
                    <a:pt x="57966" y="4048"/>
                  </a:cubicBezTo>
                  <a:cubicBezTo>
                    <a:pt x="57966" y="1349"/>
                    <a:pt x="59289" y="0"/>
                    <a:pt x="61935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</p:grpSp>
    </p:spTree>
  </p:cSld>
  <p:clrMapOvr>
    <a:masterClrMapping/>
  </p:clrMapOvr>
  <p:transition spd="slow">
    <p:cover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59427" y="2768907"/>
            <a:ext cx="10273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1C4987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请各位老师批评指正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361" y="1208339"/>
            <a:ext cx="3627082" cy="110539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173" y="1001438"/>
            <a:ext cx="1391319" cy="1395926"/>
          </a:xfrm>
          <a:prstGeom prst="rect">
            <a:avLst/>
          </a:prstGeom>
        </p:spPr>
      </p:pic>
      <p:sp>
        <p:nvSpPr>
          <p:cNvPr id="11" name="文本框 10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3587823" y="3697840"/>
            <a:ext cx="50070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zh-CN" altLang="en-US" sz="2400" b="0" dirty="0">
                <a:solidFill>
                  <a:srgbClr val="0170BD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声控流水灯设计</a:t>
            </a:r>
          </a:p>
        </p:txBody>
      </p:sp>
      <p:grpSp>
        <p:nvGrpSpPr>
          <p:cNvPr id="2" name="组合 1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>
            <a:off x="8484681" y="3851790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3" name="椭圆 2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 flipH="1">
            <a:off x="3388831" y="3851790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6" name="椭圆 5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684746" y="4529965"/>
            <a:ext cx="281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答辩学生：马凌峰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 </a:t>
            </a:r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魏子栋</a:t>
            </a:r>
          </a:p>
        </p:txBody>
      </p:sp>
      <p:sp>
        <p:nvSpPr>
          <p:cNvPr id="9" name="文本框 8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895215" y="4994910"/>
            <a:ext cx="239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指导老师：蔡陈赟</a:t>
            </a:r>
          </a:p>
        </p:txBody>
      </p:sp>
      <p:sp>
        <p:nvSpPr>
          <p:cNvPr id="24" name="文本框 23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812896" y="5459981"/>
            <a:ext cx="2583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时间： </a:t>
            </a:r>
            <a:r>
              <a:rPr lang="en-US" altLang="zh-CN" dirty="0">
                <a:latin typeface="字魂58号-创中黑" panose="00000500000000000000" pitchFamily="2" charset="-122"/>
                <a:ea typeface="字魂58号-创中黑" panose="00000500000000000000" pitchFamily="2" charset="-122"/>
                <a:sym typeface="字魂58号-创中黑" panose="00000500000000000000" pitchFamily="2" charset="-122"/>
              </a:rPr>
              <a:t>2025 . 06 . 25</a:t>
            </a:r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8" grpId="0"/>
      <p:bldP spid="9" grpId="0"/>
      <p:bldP spid="2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982"/>
  <p:tag name="ISPRING_SCORM_RATE_SLIDES" val="0"/>
  <p:tag name="ISPRING_SCORM_RATE_QUIZZES" val="0"/>
  <p:tag name="ISPRING_SCORM_PASSING_SCORE" val="0.000000"/>
  <p:tag name="ISPRING_ULTRA_SCORM_COURSE_ID" val="FBD9F647-9D34-4D8C-A890-0D0B4BF36918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F:\1.30修改\7924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6.53929133858273,&quot;left&quot;:120.95582677165355,&quot;top&quot;:194.7871653543307,&quot;width&quot;:745.634094488189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0*339"/>
  <p:tag name="TABLE_ENDDRAG_RECT" val="171*108*680*339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11771653543303,&quot;left&quot;:84.65472440944882,&quot;top&quot;:131.1275590551181,&quot;width&quot;:769.437322834645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11771653543303,&quot;left&quot;:84.65472440944882,&quot;top&quot;:131.1275590551181,&quot;width&quot;:769.437322834645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11771653543303,&quot;left&quot;:84.65472440944882,&quot;top&quot;:131.1275590551181,&quot;width&quot;:769.437322834645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11771653543303,&quot;left&quot;:84.65472440944882,&quot;top&quot;:131.1275590551181,&quot;width&quot;:769.4373228346456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11771653543303,&quot;left&quot;:84.65472440944882,&quot;top&quot;:131.1275590551181,&quot;width&quot;:769.4373228346456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1.11771653543303,&quot;left&quot;:84.65472440944882,&quot;top&quot;:131.1275590551181,&quot;width&quot;:769.4373228346456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01220472440946,&quot;left&quot;:-166.28685039370077,&quot;top&quot;:138.488031496063,&quot;width&quot;:1053.204803149606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06109247662664,&quot;left&quot;:56.7,&quot;top&quot;:42.379685039370074,&quot;width&quot;:834.425039370078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1186</Words>
  <Application>Microsoft Office PowerPoint</Application>
  <PresentationFormat>宽屏</PresentationFormat>
  <Paragraphs>141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字魂58号-创中黑</vt:lpstr>
      <vt:lpstr>宋体</vt:lpstr>
      <vt:lpstr>等线</vt:lpstr>
      <vt:lpstr>等线 Light</vt:lpstr>
      <vt:lpstr>黑体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982</dc:title>
  <dc:creator>Anzichen</dc:creator>
  <cp:lastModifiedBy>ゆきの 雨宮</cp:lastModifiedBy>
  <cp:revision>82</cp:revision>
  <dcterms:created xsi:type="dcterms:W3CDTF">2018-09-08T09:26:00Z</dcterms:created>
  <dcterms:modified xsi:type="dcterms:W3CDTF">2025-06-23T04:14:09Z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1070ECF07C74431B869D2BBB86977322_12</vt:lpwstr>
  </property>
  <property fmtid="{D5CDD505-2E9C-101B-9397-08002B2CF9AE}" pid="3" name="KSOProductBuildVer">
    <vt:lpwstr>2052-12.1.0.21541</vt:lpwstr>
  </property>
</Properties>
</file>